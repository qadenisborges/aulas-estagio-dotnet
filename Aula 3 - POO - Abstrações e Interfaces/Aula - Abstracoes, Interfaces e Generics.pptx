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852718fd-9699-bf83-6d51-0cd078e42ed7}">
          <p14:sldIdLst>
            <p14:sldId id="256"/>
            <p14:sldId id="257"/>
          </p14:sldIdLst>
        </p14:section>
        <p14:section name="Parte 1 – Conceitos" id="{b4a9916c-d83f-5108-6716-fcb6e1b11f57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arte 2 – Exemplos" id="{dac53cbc-fc8c-3300-74f6-16de72c14ade}">
          <p14:sldIdLst>
            <p14:sldId id="269"/>
            <p14:sldId id="270"/>
            <p14:sldId id="271"/>
          </p14:sldIdLst>
        </p14:section>
        <p14:section name="Parte 3 – Implementação" id="{dc1e5ed2-c426-aa99-99ec-b5c14d90098b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Fechamento" id="{0c129557-f698-86b9-ddf8-8011ca2a5285}">
          <p14:sldIdLst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Combine a regra da aula: nada de solução pronta no início. O código completo existe, mas só será aberto na Parte 3, depois de tentar.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pasta da aula: README.md, Exemplos/ e CatalogoApi/. Deixe claro que a prioridade é o aprendizado real, não terminar 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um exemplo de cada aluno antes de mostrar o código. Controle remoto, caixa eletrônico, torneira.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Reforce: o compilador cobra a promessa. É o primeiro ganho concreto de uma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é o Passo 1 do projeto Exemplos. Mostre que a classe não cria o que ela usa: ela recebe pronto.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Conecte com a Aula 2: o controller que criava o banco, aplicava regra, salvava e mandava e-mail.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é o Passo 3 do Exemplos. Lá há duas linhas comentadas: o erro de execução e o erro de compilação. Vale descomentar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4 do Exemplos: Trocar, PrimeiroOuPadrao, Paginar e Converter com dois parâmetros de tipo.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Guarde a resposta da Verificação 6 para a Parte 3: ela vira IProdutoRepository : IRepository&lt;Produto&gt;.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5 do Exemplos: uma List&lt;Entity&gt; guarda Produto e Cliente juntos.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6 do Exemplos tem a versão sem restrição comentada, com o erro exato. Descomente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uma rodada rápida: cada aluno define um conceito em voz alta. Só avance quando os oito saírem sem travar.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rode os sete de uma vez na frente deles. Abra uma pasta, peça a previsão da saída, só então rode.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checkpoint é o portão para a Parte 3. Se a assinatura do Repository não sai de cabeça, a implementação vira cópia.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Pergunte: se a pasta Repository sumir, o que para de compilar? Só o Program.cs. É esse o desenho.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Conceitos 1.1 e 1.7. A validação dentro da entidade é abstração: quem usa não precisa saber as regras, só chama o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Conceito 1.6. Mostre que IRepository&lt;Produto&gt; e IRepository&lt;Categoria&gt; são tipos diferentes, com o mesmo contrato.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versão completa há lock para concorrência e validação de Id duplicado. Aqui está resumido para caber no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Conceito 1.3. Peça que apontem a linha onde o acoplamento foi evitado: o construtor.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Conceito 1.5. ObterOuFalhar é um extension method: a sintaxe _produtos.ObterOuFalhar(id) lê como se fosse do repositório.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Rode a API aqui: dotnet run --project CatalogoApi e use o CatalogoApi.http. Crie, repita o nome (400), desative, remova, busque o removido (404).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o momento de deixar o aluno dirigir. Se ele conseguir criar Fornecedor sem olhar Produto, a aula cumpriu o objetivo.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resposta da pergunta 1 não for 'Program.cs', há acoplamento escondido em algum lugar. Vá procurar junto.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exercício 5 é o que mostra se o aluno entendeu ou só decorou. Peça por escrito.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este slide aberto durante os exercícios finais.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Reforce a ordem: entender, praticar, implementar com autonomia.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">
    <p:bg>
      <p:bgPr>
        <a:solidFill>
          <a:srgbClr val="14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920240"/>
            <a:ext cx="108813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56616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14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Aula 3 – POO: Abstrações, Interfaces e Generics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194560"/>
            <a:ext cx="108813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749040"/>
            <a:ext cx="10058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AULA 3  ·  C# / .NET  ·  PROGRAMA DE ESTÁGIO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92024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POO: Abstrações, Interfaces e Generics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5661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Entender primeiro. Praticar depois. Implementar sozinho no final.</a:t>
            </a:r>
            <a:endParaRPr lang="en-US" sz="2000" dirty="0"/>
          </a:p>
        </p:txBody>
      </p:sp>
      <p:sp>
        <p:nvSpPr>
          <p:cNvPr id="5" name="circle"/>
          <p:cNvSpPr/>
          <p:nvPr/>
        </p:nvSpPr>
        <p:spPr>
          <a:xfrm>
            <a:off x="640080" y="4937760"/>
            <a:ext cx="502920" cy="502920"/>
          </a:xfrm>
          <a:prstGeom prst="ellipse">
            <a:avLst/>
          </a:prstGeom>
          <a:solidFill>
            <a:srgbClr val="7FB3E6"/>
          </a:solidFill>
          <a:ln w="12700">
            <a:solidFill>
              <a:srgbClr val="7FB3E6"/>
            </a:solidFill>
            <a:prstDash val="solid"/>
          </a:ln>
        </p:spPr>
      </p:sp>
      <p:sp>
        <p:nvSpPr>
          <p:cNvPr id="6" name="circle-text"/>
          <p:cNvSpPr txBox="1"/>
          <p:nvPr/>
        </p:nvSpPr>
        <p:spPr>
          <a:xfrm>
            <a:off x="64008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2E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tep"/>
          <p:cNvSpPr txBox="1"/>
          <p:nvPr/>
        </p:nvSpPr>
        <p:spPr>
          <a:xfrm>
            <a:off x="1234440" y="4937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Entender</a:t>
            </a:r>
            <a:endParaRPr lang="en-US" sz="1600" dirty="0"/>
          </a:p>
        </p:txBody>
      </p:sp>
      <p:sp>
        <p:nvSpPr>
          <p:cNvPr id="8" name="circle"/>
          <p:cNvSpPr/>
          <p:nvPr/>
        </p:nvSpPr>
        <p:spPr>
          <a:xfrm>
            <a:off x="2743200" y="4937760"/>
            <a:ext cx="502920" cy="5029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9" name="circle-text"/>
          <p:cNvSpPr txBox="1"/>
          <p:nvPr/>
        </p:nvSpPr>
        <p:spPr>
          <a:xfrm>
            <a:off x="274320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2E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tep"/>
          <p:cNvSpPr txBox="1"/>
          <p:nvPr/>
        </p:nvSpPr>
        <p:spPr>
          <a:xfrm>
            <a:off x="3337560" y="4937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Praticar</a:t>
            </a:r>
            <a:endParaRPr lang="en-US" sz="1600" dirty="0"/>
          </a:p>
        </p:txBody>
      </p:sp>
      <p:sp>
        <p:nvSpPr>
          <p:cNvPr id="11" name="circle"/>
          <p:cNvSpPr/>
          <p:nvPr/>
        </p:nvSpPr>
        <p:spPr>
          <a:xfrm>
            <a:off x="4846320" y="4937760"/>
            <a:ext cx="502920" cy="502920"/>
          </a:xfrm>
          <a:prstGeom prst="ellipse">
            <a:avLst/>
          </a:prstGeom>
          <a:solidFill>
            <a:srgbClr val="3FA66B"/>
          </a:solidFill>
          <a:ln w="12700">
            <a:solidFill>
              <a:srgbClr val="3FA66B"/>
            </a:solidFill>
            <a:prstDash val="solid"/>
          </a:ln>
        </p:spPr>
      </p:sp>
      <p:sp>
        <p:nvSpPr>
          <p:cNvPr id="12" name="circle-text"/>
          <p:cNvSpPr txBox="1"/>
          <p:nvPr/>
        </p:nvSpPr>
        <p:spPr>
          <a:xfrm>
            <a:off x="484632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2E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step"/>
          <p:cNvSpPr txBox="1"/>
          <p:nvPr/>
        </p:nvSpPr>
        <p:spPr>
          <a:xfrm>
            <a:off x="5440680" y="4937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Implementar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COMO A AULA FUNCIONA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Do problema ao conceito, do conceito ao código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Três partes, sempre nessa ordem. Em cada conceito há uma pergunta de verificação: responda antes de seguir.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548640" y="2103120"/>
            <a:ext cx="35661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82296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3E6"/>
                </a:solidFill>
              </a:rPr>
              <a:t>PARTE 1</a:t>
            </a:r>
            <a:endParaRPr lang="en-US" sz="1200" dirty="0"/>
          </a:p>
        </p:txBody>
      </p:sp>
      <p:sp>
        <p:nvSpPr>
          <p:cNvPr id="7" name="col-title"/>
          <p:cNvSpPr txBox="1"/>
          <p:nvPr/>
        </p:nvSpPr>
        <p:spPr>
          <a:xfrm>
            <a:off x="82296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Entender os conceitos</a:t>
            </a:r>
            <a:endParaRPr lang="en-US" sz="2000" dirty="0"/>
          </a:p>
        </p:txBody>
      </p:sp>
      <p:sp>
        <p:nvSpPr>
          <p:cNvPr id="8" name="para"/>
          <p:cNvSpPr txBox="1"/>
          <p:nvPr/>
        </p:nvSpPr>
        <p:spPr>
          <a:xfrm>
            <a:off x="822960" y="320040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Sem IDE aberta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Problema → ideia → analogia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8 conceitos, 8 verificações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Pausa de síntese no final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297680" y="2103120"/>
            <a:ext cx="35661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10" name="label"/>
          <p:cNvSpPr txBox="1"/>
          <p:nvPr/>
        </p:nvSpPr>
        <p:spPr>
          <a:xfrm>
            <a:off x="457200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</a:rPr>
              <a:t>PARTE 2</a:t>
            </a:r>
            <a:endParaRPr lang="en-US" sz="1200" dirty="0"/>
          </a:p>
        </p:txBody>
      </p:sp>
      <p:sp>
        <p:nvSpPr>
          <p:cNvPr id="11" name="col-title"/>
          <p:cNvSpPr txBox="1"/>
          <p:nvPr/>
        </p:nvSpPr>
        <p:spPr>
          <a:xfrm>
            <a:off x="457200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Exemplos pequenos</a:t>
            </a:r>
            <a:endParaRPr lang="en-US" sz="2000" dirty="0"/>
          </a:p>
        </p:txBody>
      </p:sp>
      <p:sp>
        <p:nvSpPr>
          <p:cNvPr id="12" name="para"/>
          <p:cNvSpPr txBox="1"/>
          <p:nvPr/>
        </p:nvSpPr>
        <p:spPr>
          <a:xfrm>
            <a:off x="4572000" y="320040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Projeto console Exemplos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7 passos, 1 pasta por passo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Ler, prever a saída, rodar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Exercício em cada passo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046720" y="2103120"/>
            <a:ext cx="35661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14" name="label"/>
          <p:cNvSpPr txBox="1"/>
          <p:nvPr/>
        </p:nvSpPr>
        <p:spPr>
          <a:xfrm>
            <a:off x="832104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66B"/>
                </a:solidFill>
              </a:rPr>
              <a:t>PARTE 3</a:t>
            </a:r>
            <a:endParaRPr lang="en-US" sz="1200" dirty="0"/>
          </a:p>
        </p:txBody>
      </p:sp>
      <p:sp>
        <p:nvSpPr>
          <p:cNvPr id="15" name="col-title"/>
          <p:cNvSpPr txBox="1"/>
          <p:nvPr/>
        </p:nvSpPr>
        <p:spPr>
          <a:xfrm>
            <a:off x="832104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Implementação prática</a:t>
            </a:r>
            <a:endParaRPr lang="en-US" sz="2000" dirty="0"/>
          </a:p>
        </p:txBody>
      </p:sp>
      <p:sp>
        <p:nvSpPr>
          <p:cNvPr id="16" name="para"/>
          <p:cNvSpPr txBox="1"/>
          <p:nvPr/>
        </p:nvSpPr>
        <p:spPr>
          <a:xfrm>
            <a:off x="8321040" y="320040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API CatalogoApi em camadas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Listas em memória, sem banco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Um arquivo por vez, compilando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Segunda entidade como prova</a:t>
            </a:r>
            <a:endParaRPr lang="en-US" sz="1400" dirty="0"/>
          </a:p>
        </p:txBody>
      </p:sp>
      <p:sp>
        <p:nvSpPr>
          <p:cNvPr id="17" name="resultado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Resultado esperado: explicar cada conceito com suas palavras e depois construir IRepository&lt;T&gt;, Repository&lt;T&gt; where T : Entity, entidades, Service e Controller com autonomia.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194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PARTE 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Entender os conceitos antes do código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7490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Abstração · Interfaces · Acoplamento · Generics · Métodos genéricos · Interfaces genéricas · Herança · Restrições genéricas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PARTE 1 — ABSTRAÇÃO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Esconder o detalhe que não importa, expor só o que importa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problema: se cada parte do sistema conhece todos os detalhes das outras, qualquer mudança vira reação em cadeia.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548640" y="2103120"/>
            <a:ext cx="53949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6" name="label"/>
          <p:cNvSpPr txBox="1"/>
          <p:nvPr/>
        </p:nvSpPr>
        <p:spPr>
          <a:xfrm>
            <a:off x="82296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</a:rPr>
              <a:t>ANALOGIA</a:t>
            </a:r>
            <a:endParaRPr lang="en-US" sz="1200" dirty="0"/>
          </a:p>
        </p:txBody>
      </p:sp>
      <p:sp>
        <p:nvSpPr>
          <p:cNvPr id="7" name="t"/>
          <p:cNvSpPr txBox="1"/>
          <p:nvPr/>
        </p:nvSpPr>
        <p:spPr>
          <a:xfrm>
            <a:off x="822960" y="2606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 pedal do acelerador</a:t>
            </a:r>
            <a:endParaRPr lang="en-US" sz="2000" dirty="0"/>
          </a:p>
        </p:txBody>
      </p:sp>
      <p:sp>
        <p:nvSpPr>
          <p:cNvPr id="8" name="para"/>
          <p:cNvSpPr txBox="1"/>
          <p:nvPr/>
        </p:nvSpPr>
        <p:spPr>
          <a:xfrm>
            <a:off x="822960" y="310896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Você pisa, o carro acelera.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Não sabe se o motor é a combustão, elétrico ou híbrido. Não precisa.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 pedal é a abstração: um ponto de contato simples que esconde um mecanismo complexo.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Trocar o motor não muda o jeito de dirigir.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217920" y="2103120"/>
            <a:ext cx="53949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10" name="label"/>
          <p:cNvSpPr txBox="1"/>
          <p:nvPr/>
        </p:nvSpPr>
        <p:spPr>
          <a:xfrm>
            <a:off x="649224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3E6"/>
                </a:solidFill>
              </a:rPr>
              <a:t>NO CÓDIGO, TODO DIA</a:t>
            </a:r>
            <a:endParaRPr lang="en-US" sz="1200" dirty="0"/>
          </a:p>
        </p:txBody>
      </p:sp>
      <p:sp>
        <p:nvSpPr>
          <p:cNvPr id="11" name="code-bg"/>
          <p:cNvSpPr/>
          <p:nvPr/>
        </p:nvSpPr>
        <p:spPr>
          <a:xfrm>
            <a:off x="6492240" y="2697480"/>
            <a:ext cx="4846320" cy="1005840"/>
          </a:xfrm>
          <a:prstGeom prst="roundRect">
            <a:avLst>
              <a:gd name="adj" fmla="val 5455"/>
            </a:avLst>
          </a:prstGeom>
          <a:solidFill>
            <a:srgbClr val="0B1420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12" name="code"/>
          <p:cNvSpPr txBox="1"/>
          <p:nvPr/>
        </p:nvSpPr>
        <p:spPr>
          <a:xfrm>
            <a:off x="6601968" y="2770632"/>
            <a:ext cx="46268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lista.Add(produto);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como a List&lt;T&gt; guarda, cresce e realoca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 array interno? Você não sabe. Funciona.</a:t>
            </a:r>
            <a:endParaRPr lang="en-US" sz="1200" dirty="0"/>
          </a:p>
        </p:txBody>
      </p:sp>
      <p:sp>
        <p:nvSpPr>
          <p:cNvPr id="13" name="para"/>
          <p:cNvSpPr txBox="1"/>
          <p:nvPr/>
        </p:nvSpPr>
        <p:spPr>
          <a:xfrm>
            <a:off x="6492240" y="38862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Abstrair é decidir o que o mundo precisa saber de um objeto e guardar o resto dentro dele.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 CatalogoApi: Produto valida o próprio preço. Quem usa só chama AtualizarPreco.</a:t>
            </a:r>
            <a:endParaRPr lang="en-US" sz="1400" dirty="0"/>
          </a:p>
        </p:txBody>
      </p:sp>
      <p:sp>
        <p:nvSpPr>
          <p:cNvPr id="14" name="check-bg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B2A3F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15" name="check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VERIFICAÇÃO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Pense em um aparelho da sua casa. Qual é a interface que você usa e qual detalhe ela esconde? Se trocarem o detalhe sem mudar a interface, você percebe?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PARTE 1 — INTERFACES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Interface é o contrato: diz o que, não diz como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Quero depender de uma capacidade (alguém que envia notificação), não de uma peça específica (EmailSender, SMTP, porta 587).</a:t>
            </a:r>
            <a:endParaRPr lang="en-US" sz="1500" dirty="0"/>
          </a:p>
        </p:txBody>
      </p:sp>
      <p:sp>
        <p:nvSpPr>
          <p:cNvPr id="5" name="code-bg"/>
          <p:cNvSpPr/>
          <p:nvPr/>
        </p:nvSpPr>
        <p:spPr>
          <a:xfrm>
            <a:off x="548640" y="2103120"/>
            <a:ext cx="5394960" cy="1737360"/>
          </a:xfrm>
          <a:prstGeom prst="roundRect">
            <a:avLst>
              <a:gd name="adj" fmla="val 3158"/>
            </a:avLst>
          </a:prstGeom>
          <a:solidFill>
            <a:srgbClr val="0B1420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658368" y="2176272"/>
            <a:ext cx="517550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INotificador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Enviar(string destinatario, string mensagem);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quem assina o contrato promete ter Enviar: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EmailNotificador : INotificador { ... }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548640" y="4023360"/>
            <a:ext cx="53949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8" name="label"/>
          <p:cNvSpPr txBox="1"/>
          <p:nvPr/>
        </p:nvSpPr>
        <p:spPr>
          <a:xfrm>
            <a:off x="82296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</a:rPr>
              <a:t>ANALOGIA</a:t>
            </a:r>
            <a:endParaRPr lang="en-US" sz="1200" dirty="0"/>
          </a:p>
        </p:txBody>
      </p:sp>
      <p:sp>
        <p:nvSpPr>
          <p:cNvPr id="9" name="para"/>
          <p:cNvSpPr txBox="1"/>
          <p:nvPr/>
        </p:nvSpPr>
        <p:spPr>
          <a:xfrm>
            <a:off x="822960" y="44805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Tomada de parede: pinos e tensão padronizados. Geladeira, notebook, ventilador funcionam ali. A parede não sabe o que está ligado nela.</a:t>
            </a:r>
            <a:endParaRPr lang="en-US" sz="1400" dirty="0"/>
          </a:p>
        </p:txBody>
      </p:sp>
      <p:sp>
        <p:nvSpPr>
          <p:cNvPr id="10" name="label"/>
          <p:cNvSpPr txBox="1"/>
          <p:nvPr/>
        </p:nvSpPr>
        <p:spPr>
          <a:xfrm>
            <a:off x="621792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3E6"/>
                </a:solidFill>
              </a:rPr>
              <a:t>VOCABULÁRIO</a:t>
            </a:r>
            <a:endParaRPr lang="en-US" sz="1200" dirty="0"/>
          </a:p>
        </p:txBody>
      </p:sp>
      <p:sp>
        <p:nvSpPr>
          <p:cNvPr id="11" name="circle"/>
          <p:cNvSpPr/>
          <p:nvPr/>
        </p:nvSpPr>
        <p:spPr>
          <a:xfrm>
            <a:off x="6217920" y="2468880"/>
            <a:ext cx="457200" cy="457200"/>
          </a:xfrm>
          <a:prstGeom prst="ellipse">
            <a:avLst/>
          </a:prstGeom>
          <a:solidFill>
            <a:srgbClr val="7FB3E6"/>
          </a:solidFill>
          <a:ln w="12700">
            <a:solidFill>
              <a:srgbClr val="7FB3E6"/>
            </a:solidFill>
            <a:prstDash val="solid"/>
          </a:ln>
        </p:spPr>
      </p:sp>
      <p:sp>
        <p:nvSpPr>
          <p:cNvPr id="12" name="circle-text"/>
          <p:cNvSpPr txBox="1"/>
          <p:nvPr/>
        </p:nvSpPr>
        <p:spPr>
          <a:xfrm>
            <a:off x="62179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2E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voc"/>
          <p:cNvSpPr txBox="1"/>
          <p:nvPr/>
        </p:nvSpPr>
        <p:spPr>
          <a:xfrm>
            <a:off x="6812280" y="24231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Definir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escrever o contrato</a:t>
            </a:r>
            <a:endParaRPr lang="en-US" sz="1500" dirty="0"/>
          </a:p>
        </p:txBody>
      </p:sp>
      <p:sp>
        <p:nvSpPr>
          <p:cNvPr id="14" name="circle"/>
          <p:cNvSpPr/>
          <p:nvPr/>
        </p:nvSpPr>
        <p:spPr>
          <a:xfrm>
            <a:off x="6217920" y="3474720"/>
            <a:ext cx="457200" cy="4572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5" name="circle-text"/>
          <p:cNvSpPr txBox="1"/>
          <p:nvPr/>
        </p:nvSpPr>
        <p:spPr>
          <a:xfrm>
            <a:off x="621792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2E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voc"/>
          <p:cNvSpPr txBox="1"/>
          <p:nvPr/>
        </p:nvSpPr>
        <p:spPr>
          <a:xfrm>
            <a:off x="6812280" y="3429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Implementar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uma classe assina e fornece o código de cada método</a:t>
            </a:r>
            <a:endParaRPr lang="en-US" sz="1500" dirty="0"/>
          </a:p>
        </p:txBody>
      </p:sp>
      <p:sp>
        <p:nvSpPr>
          <p:cNvPr id="17" name="circle"/>
          <p:cNvSpPr/>
          <p:nvPr/>
        </p:nvSpPr>
        <p:spPr>
          <a:xfrm>
            <a:off x="6217920" y="4480560"/>
            <a:ext cx="457200" cy="457200"/>
          </a:xfrm>
          <a:prstGeom prst="ellipse">
            <a:avLst/>
          </a:prstGeom>
          <a:solidFill>
            <a:srgbClr val="3FA66B"/>
          </a:solidFill>
          <a:ln w="12700">
            <a:solidFill>
              <a:srgbClr val="3FA66B"/>
            </a:solidFill>
            <a:prstDash val="solid"/>
          </a:ln>
        </p:spPr>
      </p:sp>
      <p:sp>
        <p:nvSpPr>
          <p:cNvPr id="18" name="circle-text"/>
          <p:cNvSpPr txBox="1"/>
          <p:nvPr/>
        </p:nvSpPr>
        <p:spPr>
          <a:xfrm>
            <a:off x="621792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2E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voc"/>
          <p:cNvSpPr txBox="1"/>
          <p:nvPr/>
        </p:nvSpPr>
        <p:spPr>
          <a:xfrm>
            <a:off x="6812280" y="44348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Depender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receber INotificador, não EmailNotificador, e usar só o que o contrato garante</a:t>
            </a:r>
            <a:endParaRPr lang="en-US" sz="1500" dirty="0"/>
          </a:p>
        </p:txBody>
      </p:sp>
      <p:sp>
        <p:nvSpPr>
          <p:cNvPr id="20" name="check-bg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B2A3F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21" name="check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VERIFICAÇÃO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Uma interface tem código dentro dos métodos? Se a classe implementa INotificador e esquece o Enviar, quem reclama: o compilador ou o usuário em produção?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PARTE 1 — ACOPLAMENTO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Acoplamento é o quanto uma classe sabe da outra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Quanto mais ela sabe, mais ela quebra quando a outra muda. O mesmo RelatorioService, duas versões.</a:t>
            </a:r>
            <a:endParaRPr lang="en-US" sz="1500" dirty="0"/>
          </a:p>
        </p:txBody>
      </p:sp>
      <p:sp>
        <p:nvSpPr>
          <p:cNvPr id="5" name="label"/>
          <p:cNvSpPr txBox="1"/>
          <p:nvPr/>
        </p:nvSpPr>
        <p:spPr>
          <a:xfrm>
            <a:off x="54864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34F"/>
                </a:solidFill>
              </a:rPr>
              <a:t>ALTO ACOPLAMENTO</a:t>
            </a:r>
            <a:endParaRPr lang="en-US" sz="1200" dirty="0"/>
          </a:p>
        </p:txBody>
      </p:sp>
      <p:sp>
        <p:nvSpPr>
          <p:cNvPr id="6" name="code-bg"/>
          <p:cNvSpPr/>
          <p:nvPr/>
        </p:nvSpPr>
        <p:spPr>
          <a:xfrm>
            <a:off x="548640" y="2377440"/>
            <a:ext cx="5394960" cy="2240280"/>
          </a:xfrm>
          <a:prstGeom prst="roundRect">
            <a:avLst>
              <a:gd name="adj" fmla="val 2449"/>
            </a:avLst>
          </a:prstGeom>
          <a:solidFill>
            <a:srgbClr val="0B1420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58368" y="2450592"/>
            <a:ext cx="5175504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RelatorioService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Fechar()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email = new EmailSender("smtp.empresa.com", 587);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email.Enviar("chefe@empresa.com", "Fechado");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para"/>
          <p:cNvSpPr txBox="1"/>
          <p:nvPr/>
        </p:nvSpPr>
        <p:spPr>
          <a:xfrm>
            <a:off x="548640" y="47548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Sabe que é e-mail, sabe o servidor, sabe a porta. Se virar WhatsApp, você edita o RelatorioService. Para testar, ele manda e-mail de verdade.</a:t>
            </a:r>
            <a:endParaRPr lang="en-US" sz="1300" dirty="0"/>
          </a:p>
        </p:txBody>
      </p:sp>
      <p:sp>
        <p:nvSpPr>
          <p:cNvPr id="9" name="label"/>
          <p:cNvSpPr txBox="1"/>
          <p:nvPr/>
        </p:nvSpPr>
        <p:spPr>
          <a:xfrm>
            <a:off x="621792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66B"/>
                </a:solidFill>
              </a:rPr>
              <a:t>BAIXO ACOPLAMENTO</a:t>
            </a:r>
            <a:endParaRPr lang="en-US" sz="1200" dirty="0"/>
          </a:p>
        </p:txBody>
      </p:sp>
      <p:sp>
        <p:nvSpPr>
          <p:cNvPr id="10" name="code-bg"/>
          <p:cNvSpPr/>
          <p:nvPr/>
        </p:nvSpPr>
        <p:spPr>
          <a:xfrm>
            <a:off x="6217920" y="2377440"/>
            <a:ext cx="5394960" cy="2240280"/>
          </a:xfrm>
          <a:prstGeom prst="roundRect">
            <a:avLst>
              <a:gd name="adj" fmla="val 2449"/>
            </a:avLst>
          </a:prstGeom>
          <a:solidFill>
            <a:srgbClr val="0B1420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11" name="code"/>
          <p:cNvSpPr txBox="1"/>
          <p:nvPr/>
        </p:nvSpPr>
        <p:spPr>
          <a:xfrm>
            <a:off x="6327648" y="2450592"/>
            <a:ext cx="5175504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RelatorioService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readonly INotificador _notificador;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RelatorioService(INotificador n)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_notificador = n;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Fechar()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_notificador.Enviar("chefe@empresa.com", "Fechado");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para"/>
          <p:cNvSpPr txBox="1"/>
          <p:nvPr/>
        </p:nvSpPr>
        <p:spPr>
          <a:xfrm>
            <a:off x="6217920" y="47548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Só sabe que existe alguém que envia. Quem decide se é e-mail ou WhatsApp é quem monta o objeto, lá fora: inversão de dependência.</a:t>
            </a:r>
            <a:endParaRPr lang="en-US" sz="1300" dirty="0"/>
          </a:p>
        </p:txBody>
      </p:sp>
      <p:sp>
        <p:nvSpPr>
          <p:cNvPr id="13" name="check-bg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B2A3F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14" name="check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VERIFICAÇÃO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Na versão acoplada, liste três coisas que o RelatorioService sabe e não deveria. Na desacoplada, quem decide qual notificador será usado?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PARTE 1 — SEPARAÇÃO DE RESPONSABILIDADES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Cada classe tem um único motivo para mudar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É o irmão do acoplamento: se duas classes mudam pelo mesmo motivo, provavelmente deveriam ser uma. Se uma muda por dois motivos, deveriam ser duas.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822960" y="2194560"/>
            <a:ext cx="30175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6" name="b"/>
          <p:cNvSpPr txBox="1"/>
          <p:nvPr/>
        </p:nvSpPr>
        <p:spPr>
          <a:xfrm>
            <a:off x="1051560" y="2331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B3E6"/>
                </a:solidFill>
              </a:rPr>
              <a:t>Garçom</a:t>
            </a:r>
            <a:endParaRPr lang="en-US" sz="2000" dirty="0"/>
          </a:p>
        </p:txBody>
      </p:sp>
      <p:sp>
        <p:nvSpPr>
          <p:cNvPr id="7" name="b"/>
          <p:cNvSpPr txBox="1"/>
          <p:nvPr/>
        </p:nvSpPr>
        <p:spPr>
          <a:xfrm>
            <a:off x="1051560" y="2788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anota o pedido e atende a mesa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572000" y="2194560"/>
            <a:ext cx="30175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9" name="b"/>
          <p:cNvSpPr txBox="1"/>
          <p:nvPr/>
        </p:nvSpPr>
        <p:spPr>
          <a:xfrm>
            <a:off x="4800600" y="2331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93B"/>
                </a:solidFill>
              </a:rPr>
              <a:t>Comanda</a:t>
            </a:r>
            <a:endParaRPr lang="en-US" sz="2000" dirty="0"/>
          </a:p>
        </p:txBody>
      </p:sp>
      <p:sp>
        <p:nvSpPr>
          <p:cNvPr id="10" name="b"/>
          <p:cNvSpPr txBox="1"/>
          <p:nvPr/>
        </p:nvSpPr>
        <p:spPr>
          <a:xfrm>
            <a:off x="4800600" y="2788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contrato entre os dois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8321040" y="2194560"/>
            <a:ext cx="30175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12" name="b"/>
          <p:cNvSpPr txBox="1"/>
          <p:nvPr/>
        </p:nvSpPr>
        <p:spPr>
          <a:xfrm>
            <a:off x="8549640" y="2331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A66B"/>
                </a:solidFill>
              </a:rPr>
              <a:t>Cozinheiro</a:t>
            </a:r>
            <a:endParaRPr lang="en-US" sz="2000" dirty="0"/>
          </a:p>
        </p:txBody>
      </p:sp>
      <p:sp>
        <p:nvSpPr>
          <p:cNvPr id="13" name="b"/>
          <p:cNvSpPr txBox="1"/>
          <p:nvPr/>
        </p:nvSpPr>
        <p:spPr>
          <a:xfrm>
            <a:off x="8549640" y="2788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prepara o prato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3840480" y="2880360"/>
            <a:ext cx="731520" cy="0"/>
          </a:xfrm>
          <a:prstGeom prst="line">
            <a:avLst/>
          </a:prstGeom>
          <a:noFill/>
          <a:ln w="19050">
            <a:solidFill>
              <a:srgbClr val="7FB3E6"/>
            </a:solidFill>
            <a:prstDash val="solid"/>
            <a:tailEnd type="triangle"/>
          </a:ln>
        </p:spPr>
      </p:sp>
      <p:sp>
        <p:nvSpPr>
          <p:cNvPr id="15" name="arrow"/>
          <p:cNvSpPr/>
          <p:nvPr/>
        </p:nvSpPr>
        <p:spPr>
          <a:xfrm>
            <a:off x="7589520" y="2880360"/>
            <a:ext cx="731520" cy="0"/>
          </a:xfrm>
          <a:prstGeom prst="line">
            <a:avLst/>
          </a:prstGeom>
          <a:noFill/>
          <a:ln w="19050">
            <a:solidFill>
              <a:srgbClr val="7FB3E6"/>
            </a:solidFill>
            <a:prstDash val="solid"/>
            <a:tailEnd type="triangle"/>
          </a:ln>
        </p:spPr>
      </p:sp>
      <p:sp>
        <p:nvSpPr>
          <p:cNvPr id="16" name="para"/>
          <p:cNvSpPr txBox="1"/>
          <p:nvPr/>
        </p:nvSpPr>
        <p:spPr>
          <a:xfrm>
            <a:off x="822960" y="38404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 garçom não precisa saber cozinhar; o cozinheiro não precisa saber atender. Se o restaurante troca de cozinheiro, o garçom trabalha do mesmo jeito.</a:t>
            </a:r>
            <a:endParaRPr lang="en-US" sz="1500" dirty="0"/>
          </a:p>
        </p:txBody>
      </p:sp>
      <p:sp>
        <p:nvSpPr>
          <p:cNvPr id="17" name="card"/>
          <p:cNvSpPr/>
          <p:nvPr/>
        </p:nvSpPr>
        <p:spPr>
          <a:xfrm>
            <a:off x="822960" y="4617720"/>
            <a:ext cx="51206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18" name="card"/>
          <p:cNvSpPr/>
          <p:nvPr/>
        </p:nvSpPr>
        <p:spPr>
          <a:xfrm>
            <a:off x="6217920" y="4617720"/>
            <a:ext cx="51206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19" name="r"/>
          <p:cNvSpPr txBox="1"/>
          <p:nvPr/>
        </p:nvSpPr>
        <p:spPr>
          <a:xfrm>
            <a:off x="1051560" y="46177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RelatorioService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muda se a regra do relatório mudar.</a:t>
            </a:r>
            <a:endParaRPr lang="en-US" sz="1400" dirty="0"/>
          </a:p>
        </p:txBody>
      </p:sp>
      <p:sp>
        <p:nvSpPr>
          <p:cNvPr id="20" name="r"/>
          <p:cNvSpPr txBox="1"/>
          <p:nvPr/>
        </p:nvSpPr>
        <p:spPr>
          <a:xfrm>
            <a:off x="6446520" y="46177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EmailNotificador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muda se a forma de enviar e-mail mudar. Nunca os dois pelo mesmo motivo.</a:t>
            </a:r>
            <a:endParaRPr lang="en-US" sz="1400" dirty="0"/>
          </a:p>
        </p:txBody>
      </p:sp>
      <p:sp>
        <p:nvSpPr>
          <p:cNvPr id="21" name="check-bg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B2A3F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22" name="check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VERIFICAÇÃO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Na Aula 2, o controller 'que funciona, mas dói' tinha quantos motivos para mudar? Liste-os.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PARTE 1 — GENERICS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Escrever uma vez, com o tipo em aberto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Três tentativas de fazer uma 'caixa' que guarda um valor. Só a terceira resolve a duplicação sem perder a segurança de tipos.</a:t>
            </a:r>
            <a:endParaRPr lang="en-US" sz="1500" dirty="0"/>
          </a:p>
        </p:txBody>
      </p:sp>
      <p:sp>
        <p:nvSpPr>
          <p:cNvPr id="5" name="label"/>
          <p:cNvSpPr txBox="1"/>
          <p:nvPr/>
        </p:nvSpPr>
        <p:spPr>
          <a:xfrm>
            <a:off x="548640" y="2057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34F"/>
                </a:solidFill>
              </a:rPr>
              <a:t>1 · UMA CLASSE POR TIPO</a:t>
            </a:r>
            <a:endParaRPr lang="en-US" sz="1200" dirty="0"/>
          </a:p>
        </p:txBody>
      </p:sp>
      <p:sp>
        <p:nvSpPr>
          <p:cNvPr id="6" name="code-bg"/>
          <p:cNvSpPr/>
          <p:nvPr/>
        </p:nvSpPr>
        <p:spPr>
          <a:xfrm>
            <a:off x="548640" y="2377440"/>
            <a:ext cx="3566160" cy="2103120"/>
          </a:xfrm>
          <a:prstGeom prst="roundRect">
            <a:avLst>
              <a:gd name="adj" fmla="val 2609"/>
            </a:avLst>
          </a:prstGeom>
          <a:solidFill>
            <a:srgbClr val="0B1420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58368" y="2450592"/>
            <a:ext cx="3346704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CaixaDeInteiro { int Valor; 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CaixaDeTexto   { string Valor; 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CaixaDeProduto { Produto Valor; 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mesmo raciocínio, N vezes.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bug em uma = corrigir em todas.</a:t>
            </a:r>
            <a:endParaRPr lang="en-US" sz="1050" dirty="0"/>
          </a:p>
        </p:txBody>
      </p:sp>
      <p:sp>
        <p:nvSpPr>
          <p:cNvPr id="8" name="v"/>
          <p:cNvSpPr txBox="1"/>
          <p:nvPr/>
        </p:nvSpPr>
        <p:spPr>
          <a:xfrm>
            <a:off x="548640" y="4572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534F"/>
                </a:solidFill>
              </a:rPr>
              <a:t>Duplicação</a:t>
            </a:r>
            <a:endParaRPr lang="en-US" sz="1500" dirty="0"/>
          </a:p>
        </p:txBody>
      </p:sp>
      <p:sp>
        <p:nvSpPr>
          <p:cNvPr id="9" name="label"/>
          <p:cNvSpPr txBox="1"/>
          <p:nvPr/>
        </p:nvSpPr>
        <p:spPr>
          <a:xfrm>
            <a:off x="4297680" y="2057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</a:rPr>
              <a:t>2 · OBJECT PARA TUDO</a:t>
            </a:r>
            <a:endParaRPr lang="en-US" sz="1200" dirty="0"/>
          </a:p>
        </p:txBody>
      </p:sp>
      <p:sp>
        <p:nvSpPr>
          <p:cNvPr id="10" name="code-bg"/>
          <p:cNvSpPr/>
          <p:nvPr/>
        </p:nvSpPr>
        <p:spPr>
          <a:xfrm>
            <a:off x="4297680" y="2377440"/>
            <a:ext cx="3566160" cy="2103120"/>
          </a:xfrm>
          <a:prstGeom prst="roundRect">
            <a:avLst>
              <a:gd name="adj" fmla="val 2609"/>
            </a:avLst>
          </a:prstGeom>
          <a:solidFill>
            <a:srgbClr val="0B1420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11" name="code"/>
          <p:cNvSpPr txBox="1"/>
          <p:nvPr/>
        </p:nvSpPr>
        <p:spPr>
          <a:xfrm>
            <a:off x="4407408" y="2450592"/>
            <a:ext cx="3346704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Caixa { object Valor; 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 = new Caixa { Valor = 10 };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 = (string)c.Valor;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compila!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explode em tempo de execução.</a:t>
            </a:r>
            <a:endParaRPr lang="en-US" sz="1050" dirty="0"/>
          </a:p>
        </p:txBody>
      </p:sp>
      <p:sp>
        <p:nvSpPr>
          <p:cNvPr id="12" name="v"/>
          <p:cNvSpPr txBox="1"/>
          <p:nvPr/>
        </p:nvSpPr>
        <p:spPr>
          <a:xfrm>
            <a:off x="4297680" y="4572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</a:rPr>
              <a:t>Perde a segurança de tipo</a:t>
            </a:r>
            <a:endParaRPr lang="en-US" sz="1500" dirty="0"/>
          </a:p>
        </p:txBody>
      </p:sp>
      <p:sp>
        <p:nvSpPr>
          <p:cNvPr id="13" name="label"/>
          <p:cNvSpPr txBox="1"/>
          <p:nvPr/>
        </p:nvSpPr>
        <p:spPr>
          <a:xfrm>
            <a:off x="8046720" y="2057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66B"/>
                </a:solidFill>
              </a:rPr>
              <a:t>3 · GENERICS</a:t>
            </a:r>
            <a:endParaRPr lang="en-US" sz="1200" dirty="0"/>
          </a:p>
        </p:txBody>
      </p:sp>
      <p:sp>
        <p:nvSpPr>
          <p:cNvPr id="14" name="code-bg"/>
          <p:cNvSpPr/>
          <p:nvPr/>
        </p:nvSpPr>
        <p:spPr>
          <a:xfrm>
            <a:off x="8046720" y="2377440"/>
            <a:ext cx="3566160" cy="2103120"/>
          </a:xfrm>
          <a:prstGeom prst="roundRect">
            <a:avLst>
              <a:gd name="adj" fmla="val 2609"/>
            </a:avLst>
          </a:prstGeom>
          <a:solidFill>
            <a:srgbClr val="0B1420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15" name="code"/>
          <p:cNvSpPr txBox="1"/>
          <p:nvPr/>
        </p:nvSpPr>
        <p:spPr>
          <a:xfrm>
            <a:off x="8156448" y="2450592"/>
            <a:ext cx="3346704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Caixa&lt;T&gt; { T Valor; 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 = new Caixa&lt;int&gt;    { Valor = 10 };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b = new Caixa&lt;string&gt; { Valor = "oi" };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T: espaço em branco que o compilador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preenche. Erro aparece antes de rodar.</a:t>
            </a:r>
            <a:endParaRPr lang="en-US" sz="1050" dirty="0"/>
          </a:p>
        </p:txBody>
      </p:sp>
      <p:sp>
        <p:nvSpPr>
          <p:cNvPr id="16" name="v"/>
          <p:cNvSpPr txBox="1"/>
          <p:nvPr/>
        </p:nvSpPr>
        <p:spPr>
          <a:xfrm>
            <a:off x="8046720" y="4572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A66B"/>
                </a:solidFill>
              </a:rPr>
              <a:t>Uma classe, infinitos tipos</a:t>
            </a:r>
            <a:endParaRPr lang="en-US" sz="1500" dirty="0"/>
          </a:p>
        </p:txBody>
      </p:sp>
      <p:sp>
        <p:nvSpPr>
          <p:cNvPr id="17" name="para"/>
          <p:cNvSpPr txBox="1"/>
          <p:nvPr/>
        </p:nvSpPr>
        <p:spPr>
          <a:xfrm>
            <a:off x="548640" y="4983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Analogia: uma forma de bolo. A forma é uma só; o que varia é a massa. Você já usa generics o tempo todo: List&lt;Produto&gt;, Dictionary&lt;string, int&gt;, Task&lt;Pedido&gt;.</a:t>
            </a:r>
            <a:endParaRPr lang="en-US" sz="1400" dirty="0"/>
          </a:p>
        </p:txBody>
      </p:sp>
      <p:sp>
        <p:nvSpPr>
          <p:cNvPr id="18" name="check-bg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B2A3F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19" name="check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VERIFICAÇÃO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Qual a diferença prática entre Caixa com object e Caixa&lt;T&gt;? Em qual das duas o erro de tipo aparece antes de rodar o programa?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PARTE 1 — MÉTODOS GENÉRICOS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Quando só um método precisa do tipo em aberto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parâmetro de tipo vai no método, e o compilador quase sempre infere o T sozinho.</a:t>
            </a:r>
            <a:endParaRPr lang="en-US" sz="1500" dirty="0"/>
          </a:p>
        </p:txBody>
      </p:sp>
      <p:sp>
        <p:nvSpPr>
          <p:cNvPr id="5" name="code-bg"/>
          <p:cNvSpPr/>
          <p:nvPr/>
        </p:nvSpPr>
        <p:spPr>
          <a:xfrm>
            <a:off x="548640" y="2103120"/>
            <a:ext cx="5669280" cy="2377440"/>
          </a:xfrm>
          <a:prstGeom prst="roundRect">
            <a:avLst>
              <a:gd name="adj" fmla="val 2308"/>
            </a:avLst>
          </a:prstGeom>
          <a:solidFill>
            <a:srgbClr val="0B1420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658368" y="2176272"/>
            <a:ext cx="544982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Trocar&lt;T&gt;(ref T a, ref T b)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temp = a;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= b;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 = temp;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x = 1, y = 2;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Trocar(ref x, ref y);   // sem escrever Trocar&lt;int&gt;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6492240" y="2103120"/>
            <a:ext cx="512064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8" name="label"/>
          <p:cNvSpPr txBox="1"/>
          <p:nvPr/>
        </p:nvSpPr>
        <p:spPr>
          <a:xfrm>
            <a:off x="676656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3E6"/>
                </a:solidFill>
              </a:rPr>
              <a:t>QUANDO SÃO ÚTEIS</a:t>
            </a:r>
            <a:endParaRPr lang="en-US" sz="1200" dirty="0"/>
          </a:p>
        </p:txBody>
      </p:sp>
      <p:sp>
        <p:nvSpPr>
          <p:cNvPr id="9" name="para"/>
          <p:cNvSpPr txBox="1"/>
          <p:nvPr/>
        </p:nvSpPr>
        <p:spPr>
          <a:xfrm>
            <a:off x="6766560" y="26060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Quando o algoritmo é o mesmo para qualquer tipo: trocar, paginar, pegar o primeiro, converter.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Sinal de alerta: PaginarProdutos, PaginarClientes, PaginarPedidos com o mesmo corpo. É um método genérico pedindo para nascer.</a:t>
            </a:r>
            <a:endParaRPr lang="en-US" sz="1400" dirty="0"/>
          </a:p>
        </p:txBody>
      </p:sp>
      <p:sp>
        <p:nvSpPr>
          <p:cNvPr id="10" name="code-bg"/>
          <p:cNvSpPr/>
          <p:nvPr/>
        </p:nvSpPr>
        <p:spPr>
          <a:xfrm>
            <a:off x="548640" y="46177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0B1420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11" name="code"/>
          <p:cNvSpPr txBox="1"/>
          <p:nvPr/>
        </p:nvSpPr>
        <p:spPr>
          <a:xfrm>
            <a:off x="658368" y="4690872"/>
            <a:ext cx="108447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List&lt;T&gt; Paginar&lt;T&gt;(List&lt;T&gt; itens, int pagina, int tamanho)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=&gt; itens.Skip((pagina - 1) * tamanho).Take(tamanho).ToList();   // não precisa saber nada sobre T</a:t>
            </a:r>
            <a:endParaRPr lang="en-US" sz="1200" dirty="0"/>
          </a:p>
        </p:txBody>
      </p:sp>
      <p:sp>
        <p:nvSpPr>
          <p:cNvPr id="12" name="check-bg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B2A3F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13" name="check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VERIFICAÇÃO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Paginar&lt;T&gt; precisa saber o que é um T para funcionar? Que operações ele faz com T?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PARTE 1 — INTERFACES GENÉRICAS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IRepository&lt;T&gt;: um contrato, escrito uma vez, para qualquer entidade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Junte os dois conceitos: contrato + tipo em aberto. Toda entidade precisa de listar, obter, incluir, atualizar e remover.</a:t>
            </a:r>
            <a:endParaRPr lang="en-US" sz="1500" dirty="0"/>
          </a:p>
        </p:txBody>
      </p:sp>
      <p:sp>
        <p:nvSpPr>
          <p:cNvPr id="5" name="label"/>
          <p:cNvSpPr txBox="1"/>
          <p:nvPr/>
        </p:nvSpPr>
        <p:spPr>
          <a:xfrm>
            <a:off x="54864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34F"/>
                </a:solidFill>
              </a:rPr>
              <a:t>SEM GENERICS</a:t>
            </a:r>
            <a:endParaRPr lang="en-US" sz="1200" dirty="0"/>
          </a:p>
        </p:txBody>
      </p:sp>
      <p:sp>
        <p:nvSpPr>
          <p:cNvPr id="6" name="code-bg"/>
          <p:cNvSpPr/>
          <p:nvPr/>
        </p:nvSpPr>
        <p:spPr>
          <a:xfrm>
            <a:off x="548640" y="2377440"/>
            <a:ext cx="4937760" cy="1828800"/>
          </a:xfrm>
          <a:prstGeom prst="roundRect">
            <a:avLst>
              <a:gd name="adj" fmla="val 3000"/>
            </a:avLst>
          </a:prstGeom>
          <a:solidFill>
            <a:srgbClr val="0B1420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58368" y="2450592"/>
            <a:ext cx="471830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IProdutoRepository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 Produto? ObterPorId(Guid id);  /* +4 métodos */  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IClienteRepository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 Cliente? ObterPorId(Guid id);  /* +4 métodos */  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IPedidoRepository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 Pedido?  ObterPorId(Guid id);  /* +4 métodos */  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os mesmos cinco métodos, três vezes, só mudando o tipo.</a:t>
            </a:r>
            <a:endParaRPr lang="en-US" sz="1050" dirty="0"/>
          </a:p>
        </p:txBody>
      </p:sp>
      <p:sp>
        <p:nvSpPr>
          <p:cNvPr id="8" name="label"/>
          <p:cNvSpPr txBox="1"/>
          <p:nvPr/>
        </p:nvSpPr>
        <p:spPr>
          <a:xfrm>
            <a:off x="576072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66B"/>
                </a:solidFill>
              </a:rPr>
              <a:t>COM INTERFACE GENÉRICA</a:t>
            </a:r>
            <a:endParaRPr lang="en-US" sz="1200" dirty="0"/>
          </a:p>
        </p:txBody>
      </p:sp>
      <p:sp>
        <p:nvSpPr>
          <p:cNvPr id="9" name="code-bg"/>
          <p:cNvSpPr/>
          <p:nvPr/>
        </p:nvSpPr>
        <p:spPr>
          <a:xfrm>
            <a:off x="5760720" y="2377440"/>
            <a:ext cx="5852160" cy="1828800"/>
          </a:xfrm>
          <a:prstGeom prst="roundRect">
            <a:avLst>
              <a:gd name="adj" fmla="val 3000"/>
            </a:avLst>
          </a:prstGeom>
          <a:solidFill>
            <a:srgbClr val="0B1420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10" name="code"/>
          <p:cNvSpPr txBox="1"/>
          <p:nvPr/>
        </p:nvSpPr>
        <p:spPr>
          <a:xfrm>
            <a:off x="5870448" y="2450592"/>
            <a:ext cx="563270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IRepository&lt;T&gt;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IReadOnlyList&lt;T&gt; ObterTodos();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T? ObterPorId(Guid id);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Adicionar(T entidade);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Atualizar(T entidade);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Remover(Guid id);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card"/>
          <p:cNvSpPr/>
          <p:nvPr/>
        </p:nvSpPr>
        <p:spPr>
          <a:xfrm>
            <a:off x="548640" y="4389120"/>
            <a:ext cx="35661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12" name="u"/>
          <p:cNvSpPr txBox="1"/>
          <p:nvPr/>
        </p:nvSpPr>
        <p:spPr>
          <a:xfrm>
            <a:off x="777240" y="4480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B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IRepository&lt;Produto&gt;</a:t>
            </a:r>
            <a:endParaRPr lang="en-US" sz="1400" dirty="0"/>
          </a:p>
        </p:txBody>
      </p:sp>
      <p:sp>
        <p:nvSpPr>
          <p:cNvPr id="13" name="u"/>
          <p:cNvSpPr txBox="1"/>
          <p:nvPr/>
        </p:nvSpPr>
        <p:spPr>
          <a:xfrm>
            <a:off x="777240" y="4892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contrato de armazenamento de produtos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4297680" y="4389120"/>
            <a:ext cx="35661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15" name="u"/>
          <p:cNvSpPr txBox="1"/>
          <p:nvPr/>
        </p:nvSpPr>
        <p:spPr>
          <a:xfrm>
            <a:off x="4526280" y="4480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IRepository&lt;Cliente&gt;</a:t>
            </a:r>
            <a:endParaRPr lang="en-US" sz="1400" dirty="0"/>
          </a:p>
        </p:txBody>
      </p:sp>
      <p:sp>
        <p:nvSpPr>
          <p:cNvPr id="16" name="u"/>
          <p:cNvSpPr txBox="1"/>
          <p:nvPr/>
        </p:nvSpPr>
        <p:spPr>
          <a:xfrm>
            <a:off x="4526280" y="4892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contrato de armazenamento de clientes</a:t>
            </a:r>
            <a:endParaRPr lang="en-US" sz="1300" dirty="0"/>
          </a:p>
        </p:txBody>
      </p:sp>
      <p:sp>
        <p:nvSpPr>
          <p:cNvPr id="17" name="card"/>
          <p:cNvSpPr/>
          <p:nvPr/>
        </p:nvSpPr>
        <p:spPr>
          <a:xfrm>
            <a:off x="8046720" y="4389120"/>
            <a:ext cx="356616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18" name="u"/>
          <p:cNvSpPr txBox="1"/>
          <p:nvPr/>
        </p:nvSpPr>
        <p:spPr>
          <a:xfrm>
            <a:off x="8275320" y="4480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A6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IRepository&lt;T&gt;</a:t>
            </a:r>
            <a:endParaRPr lang="en-US" sz="1400" dirty="0"/>
          </a:p>
        </p:txBody>
      </p:sp>
      <p:sp>
        <p:nvSpPr>
          <p:cNvPr id="19" name="u"/>
          <p:cNvSpPr txBox="1"/>
          <p:nvPr/>
        </p:nvSpPr>
        <p:spPr>
          <a:xfrm>
            <a:off x="8275320" y="4892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 mesmo contrato, tipos diferentes</a:t>
            </a:r>
            <a:endParaRPr lang="en-US" sz="1300" dirty="0"/>
          </a:p>
        </p:txBody>
      </p:sp>
      <p:sp>
        <p:nvSpPr>
          <p:cNvPr id="20" name="check-bg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B2A3F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21" name="check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VERIFICAÇÃO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 você precisar de ObterPorCodigoDeBarras, que só faz sentido para produto, onde ela entra? Em IRepository&lt;T&gt; ou em algum lugar específico? Por quê?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PARTE 1 — HERANÇA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Produto : Entity lê-se 'Produto é uma Entity'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Toda entidade tem Id. Se cada classe declarar o seu, você repete a propriedade e a geração do id, e nada garante que todos façam igual.</a:t>
            </a:r>
            <a:endParaRPr lang="en-US" sz="1500" dirty="0"/>
          </a:p>
        </p:txBody>
      </p:sp>
      <p:sp>
        <p:nvSpPr>
          <p:cNvPr id="5" name="code-bg"/>
          <p:cNvSpPr/>
          <p:nvPr/>
        </p:nvSpPr>
        <p:spPr>
          <a:xfrm>
            <a:off x="548640" y="2103120"/>
            <a:ext cx="5486400" cy="2651760"/>
          </a:xfrm>
          <a:prstGeom prst="roundRect">
            <a:avLst>
              <a:gd name="adj" fmla="val 2069"/>
            </a:avLst>
          </a:prstGeom>
          <a:solidFill>
            <a:srgbClr val="0B1420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658368" y="2176272"/>
            <a:ext cx="5266944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class Entity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Guid Id { get; protected set; } = Guid.NewGuid();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Produto : Entity      // herda Id sem declarar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Nome  { get; private set; 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decimal Preco { get; private set; 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graphicFrame>
        <p:nvGraphicFramePr>
          <p:cNvPr id="12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103120"/>
          <a:ext cx="53035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057400"/>
                <a:gridCol w="2057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FB3E6"/>
                          </a:solidFill>
                        </a:rPr>
                        <a:t>Herança</a:t>
                      </a:r>
                      <a:endParaRPr lang="en-US" sz="12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A93B"/>
                          </a:solidFill>
                        </a:rPr>
                        <a:t>Interface</a:t>
                      </a:r>
                      <a:endParaRPr lang="en-US" sz="12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Relação</a:t>
                      </a:r>
                      <a:endParaRPr lang="en-US" sz="12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é um</a:t>
                      </a:r>
                      <a:endParaRPr lang="en-US" sz="12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sabe fazer</a:t>
                      </a:r>
                      <a:endParaRPr lang="en-US" sz="12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Traz</a:t>
                      </a:r>
                      <a:endParaRPr lang="en-US" sz="12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código pronto (Id já vem)</a:t>
                      </a:r>
                      <a:endParaRPr lang="en-US" sz="12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só a promessa (você implementa)</a:t>
                      </a:r>
                      <a:endParaRPr lang="en-US" sz="12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Quantidade</a:t>
                      </a:r>
                      <a:endParaRPr lang="en-US" sz="12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uma base por classe</a:t>
                      </a:r>
                      <a:endParaRPr lang="en-US" sz="12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quantas quiser</a:t>
                      </a:r>
                      <a:endParaRPr lang="en-US" sz="12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Palavra-chave</a:t>
                      </a:r>
                      <a:endParaRPr lang="en-US" sz="12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abstract: só existe para ser base</a:t>
                      </a:r>
                      <a:endParaRPr lang="en-US" sz="12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contrato cobrado pelo compilador</a:t>
                      </a:r>
                      <a:endParaRPr lang="en-US" sz="12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</a:tr>
            </a:tbl>
          </a:graphicData>
        </a:graphic>
      </p:graphicFrame>
      <p:sp>
        <p:nvSpPr>
          <p:cNvPr id="8" name="para"/>
          <p:cNvSpPr txBox="1"/>
          <p:nvPr/>
        </p:nvSpPr>
        <p:spPr>
          <a:xfrm>
            <a:off x="6309360" y="443484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Cuidado: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herança é para o que é de fato comum e estável. Não crie uma classe-base para reaproveitar três linhas. Entity tem motivo claro: todo objeto armazenado precisa ser identificável.</a:t>
            </a:r>
            <a:endParaRPr lang="en-US" sz="1300" dirty="0"/>
          </a:p>
        </p:txBody>
      </p:sp>
      <p:sp>
        <p:nvSpPr>
          <p:cNvPr id="9" name="check-bg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B2A3F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10" name="check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VERIFICAÇÃO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Por que Entity é abstract? O que aconteceria se não fosse? Produto precisa declarar Id?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PARTE 1 — RESTRIÇÕES GENÉRICAS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where T : Entity diz ao compilador o que T garante ser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Dentro de Repository&lt;T&gt;, você quer buscar por x.Id. Mas T pode ser int ou string, que não têm Id. O compilador reclama.</a:t>
            </a:r>
            <a:endParaRPr lang="en-US" sz="1500" dirty="0"/>
          </a:p>
        </p:txBody>
      </p:sp>
      <p:sp>
        <p:nvSpPr>
          <p:cNvPr id="5" name="label"/>
          <p:cNvSpPr txBox="1"/>
          <p:nvPr/>
        </p:nvSpPr>
        <p:spPr>
          <a:xfrm>
            <a:off x="54864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534F"/>
                </a:solidFill>
              </a:rPr>
              <a:t>SEM RESTRIÇÃO</a:t>
            </a:r>
            <a:endParaRPr lang="en-US" sz="1200" dirty="0"/>
          </a:p>
        </p:txBody>
      </p:sp>
      <p:sp>
        <p:nvSpPr>
          <p:cNvPr id="6" name="code-bg"/>
          <p:cNvSpPr/>
          <p:nvPr/>
        </p:nvSpPr>
        <p:spPr>
          <a:xfrm>
            <a:off x="548640" y="237744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0B1420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658368" y="2450592"/>
            <a:ext cx="517550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Repository&lt;T&gt;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T? ObterPorId(Guid id)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_itens.FirstOrDefault(x =&gt; x.Id == id);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     // CS1061: 'T' não contém uma definição para 'Id'</a:t>
            </a:r>
            <a:endParaRPr lang="en-US" sz="1100" dirty="0"/>
          </a:p>
        </p:txBody>
      </p:sp>
      <p:sp>
        <p:nvSpPr>
          <p:cNvPr id="8" name="label"/>
          <p:cNvSpPr txBox="1"/>
          <p:nvPr/>
        </p:nvSpPr>
        <p:spPr>
          <a:xfrm>
            <a:off x="621792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66B"/>
                </a:solidFill>
              </a:rPr>
              <a:t>COM RESTRIÇÃO</a:t>
            </a:r>
            <a:endParaRPr lang="en-US" sz="1200" dirty="0"/>
          </a:p>
        </p:txBody>
      </p:sp>
      <p:sp>
        <p:nvSpPr>
          <p:cNvPr id="9" name="code-bg"/>
          <p:cNvSpPr/>
          <p:nvPr/>
        </p:nvSpPr>
        <p:spPr>
          <a:xfrm>
            <a:off x="6217920" y="237744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0B1420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10" name="code"/>
          <p:cNvSpPr txBox="1"/>
          <p:nvPr/>
        </p:nvSpPr>
        <p:spPr>
          <a:xfrm>
            <a:off x="6327648" y="2450592"/>
            <a:ext cx="517550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Repository&lt;T&gt; : IRepository&lt;T&gt; where T : Entity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T? ObterPorId(Guid id)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_itens.FirstOrDefault(x =&gt; x.Id == id);   // compila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     // Repository&lt;string&gt;? CS0311: não compila. Ótimo.</a:t>
            </a:r>
            <a:endParaRPr lang="en-US" sz="1100" dirty="0"/>
          </a:p>
        </p:txBody>
      </p:sp>
      <p:graphicFrame>
        <p:nvGraphicFramePr>
          <p:cNvPr id="13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65836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93192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FB3E6"/>
                          </a:solidFill>
                        </a:rPr>
                        <a:t>Restrição</a:t>
                      </a:r>
                      <a:endParaRPr lang="en-US" sz="12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FB3E6"/>
                          </a:solidFill>
                        </a:rPr>
                        <a:t>Significa</a:t>
                      </a:r>
                      <a:endParaRPr lang="en-US" sz="12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where T : Entity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T herda de Entity (ou é ela)</a:t>
                      </a:r>
                      <a:endParaRPr lang="en-US" sz="12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where T : IComparable&lt;T&gt;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T implementa a interface</a:t>
                      </a:r>
                      <a:endParaRPr lang="en-US" sz="12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where T : class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T é tipo de referência</a:t>
                      </a:r>
                      <a:endParaRPr lang="en-US" sz="12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where T : new()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T tem construtor sem parâmetros: pode fazer new T()</a:t>
                      </a:r>
                      <a:endParaRPr lang="en-US" sz="1200" dirty="0"/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</a:tr>
            </a:tbl>
          </a:graphicData>
        </a:graphic>
      </p:graphicFrame>
      <p:sp>
        <p:nvSpPr>
          <p:cNvPr id="12" name="card"/>
          <p:cNvSpPr/>
          <p:nvPr/>
        </p:nvSpPr>
        <p:spPr>
          <a:xfrm>
            <a:off x="7406640" y="3977640"/>
            <a:ext cx="42062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13" name="label"/>
          <p:cNvSpPr txBox="1"/>
          <p:nvPr/>
        </p:nvSpPr>
        <p:spPr>
          <a:xfrm>
            <a:off x="763524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</a:rPr>
              <a:t>DOIS GANHOS</a:t>
            </a:r>
            <a:endParaRPr lang="en-US" sz="1200" dirty="0"/>
          </a:p>
        </p:txBody>
      </p:sp>
      <p:sp>
        <p:nvSpPr>
          <p:cNvPr id="14" name="para"/>
          <p:cNvSpPr txBox="1"/>
          <p:nvPr/>
        </p:nvSpPr>
        <p:spPr>
          <a:xfrm>
            <a:off x="7635240" y="44348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Poder usar os membros da base dentro do código genérico.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Impedir usos sem sentido já em tempo de compilação.</a:t>
            </a:r>
            <a:endParaRPr lang="en-US" sz="1300" dirty="0"/>
          </a:p>
        </p:txBody>
      </p:sp>
      <p:sp>
        <p:nvSpPr>
          <p:cNvPr id="15" name="check-bg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B2A3F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16" name="check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VERIFICAÇÃO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Sem a restrição, Repository&lt;T&gt; compila? Com a restrição, Repository&lt;string&gt; compila? Explique os dois casos.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PARTE 1 — PAUSA DE SÍNTESE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Explique cada conceito em uma frase, com suas palavras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 alguma frase saiu travada, volte ao slide. É mais barato reler agora do que debugar depois.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548640" y="21488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6" name="circle"/>
          <p:cNvSpPr/>
          <p:nvPr/>
        </p:nvSpPr>
        <p:spPr>
          <a:xfrm>
            <a:off x="777240" y="2377440"/>
            <a:ext cx="411480" cy="411480"/>
          </a:xfrm>
          <a:prstGeom prst="ellipse">
            <a:avLst/>
          </a:prstGeom>
          <a:solidFill>
            <a:srgbClr val="7FB3E6"/>
          </a:solidFill>
          <a:ln w="12700">
            <a:solidFill>
              <a:srgbClr val="7FB3E6"/>
            </a:solidFill>
            <a:prstDash val="solid"/>
          </a:ln>
        </p:spPr>
      </p:sp>
      <p:sp>
        <p:nvSpPr>
          <p:cNvPr id="7" name="circle-text"/>
          <p:cNvSpPr txBox="1"/>
          <p:nvPr/>
        </p:nvSpPr>
        <p:spPr>
          <a:xfrm>
            <a:off x="77724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02E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k"/>
          <p:cNvSpPr txBox="1"/>
          <p:nvPr/>
        </p:nvSpPr>
        <p:spPr>
          <a:xfrm>
            <a:off x="1280160" y="2350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Abstração</a:t>
            </a:r>
            <a:endParaRPr lang="en-US" sz="1500" dirty="0"/>
          </a:p>
        </p:txBody>
      </p:sp>
      <p:sp>
        <p:nvSpPr>
          <p:cNvPr id="9" name="t"/>
          <p:cNvSpPr txBox="1"/>
          <p:nvPr/>
        </p:nvSpPr>
        <p:spPr>
          <a:xfrm>
            <a:off x="77724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esconder o detalhe, expor o essencial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3355848" y="21488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11" name="circle"/>
          <p:cNvSpPr/>
          <p:nvPr/>
        </p:nvSpPr>
        <p:spPr>
          <a:xfrm>
            <a:off x="3584448" y="2377440"/>
            <a:ext cx="411480" cy="4114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2" name="circle-text"/>
          <p:cNvSpPr txBox="1"/>
          <p:nvPr/>
        </p:nvSpPr>
        <p:spPr>
          <a:xfrm>
            <a:off x="3584448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02E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k"/>
          <p:cNvSpPr txBox="1"/>
          <p:nvPr/>
        </p:nvSpPr>
        <p:spPr>
          <a:xfrm>
            <a:off x="4087368" y="2350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Interface</a:t>
            </a:r>
            <a:endParaRPr lang="en-US" sz="1500" dirty="0"/>
          </a:p>
        </p:txBody>
      </p:sp>
      <p:sp>
        <p:nvSpPr>
          <p:cNvPr id="14" name="t"/>
          <p:cNvSpPr txBox="1"/>
          <p:nvPr/>
        </p:nvSpPr>
        <p:spPr>
          <a:xfrm>
            <a:off x="3584448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contrato: diz o que, não como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6163056" y="21488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16" name="circle"/>
          <p:cNvSpPr/>
          <p:nvPr/>
        </p:nvSpPr>
        <p:spPr>
          <a:xfrm>
            <a:off x="6391656" y="2377440"/>
            <a:ext cx="411480" cy="411480"/>
          </a:xfrm>
          <a:prstGeom prst="ellipse">
            <a:avLst/>
          </a:prstGeom>
          <a:solidFill>
            <a:srgbClr val="3FA66B"/>
          </a:solidFill>
          <a:ln w="12700">
            <a:solidFill>
              <a:srgbClr val="3FA66B"/>
            </a:solidFill>
            <a:prstDash val="solid"/>
          </a:ln>
        </p:spPr>
      </p:sp>
      <p:sp>
        <p:nvSpPr>
          <p:cNvPr id="17" name="circle-text"/>
          <p:cNvSpPr txBox="1"/>
          <p:nvPr/>
        </p:nvSpPr>
        <p:spPr>
          <a:xfrm>
            <a:off x="6391656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02E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k"/>
          <p:cNvSpPr txBox="1"/>
          <p:nvPr/>
        </p:nvSpPr>
        <p:spPr>
          <a:xfrm>
            <a:off x="6894576" y="2350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Acoplamento</a:t>
            </a:r>
            <a:endParaRPr lang="en-US" sz="1500" dirty="0"/>
          </a:p>
        </p:txBody>
      </p:sp>
      <p:sp>
        <p:nvSpPr>
          <p:cNvPr id="19" name="t"/>
          <p:cNvSpPr txBox="1"/>
          <p:nvPr/>
        </p:nvSpPr>
        <p:spPr>
          <a:xfrm>
            <a:off x="6391656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quanto uma classe sabe da outra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8970264" y="21488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21" name="circle"/>
          <p:cNvSpPr/>
          <p:nvPr/>
        </p:nvSpPr>
        <p:spPr>
          <a:xfrm>
            <a:off x="9198864" y="2377440"/>
            <a:ext cx="411480" cy="41148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2" name="circle-text"/>
          <p:cNvSpPr txBox="1"/>
          <p:nvPr/>
        </p:nvSpPr>
        <p:spPr>
          <a:xfrm>
            <a:off x="9198864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02E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k"/>
          <p:cNvSpPr txBox="1"/>
          <p:nvPr/>
        </p:nvSpPr>
        <p:spPr>
          <a:xfrm>
            <a:off x="9701784" y="2350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Generics</a:t>
            </a:r>
            <a:endParaRPr lang="en-US" sz="1500" dirty="0"/>
          </a:p>
        </p:txBody>
      </p:sp>
      <p:sp>
        <p:nvSpPr>
          <p:cNvPr id="24" name="t"/>
          <p:cNvSpPr txBox="1"/>
          <p:nvPr/>
        </p:nvSpPr>
        <p:spPr>
          <a:xfrm>
            <a:off x="9198864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escrever uma vez, tipo em aberto</a:t>
            </a:r>
            <a:endParaRPr lang="en-US" sz="1300" dirty="0"/>
          </a:p>
        </p:txBody>
      </p:sp>
      <p:sp>
        <p:nvSpPr>
          <p:cNvPr id="25" name="card"/>
          <p:cNvSpPr/>
          <p:nvPr/>
        </p:nvSpPr>
        <p:spPr>
          <a:xfrm>
            <a:off x="548640" y="393192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26" name="circle"/>
          <p:cNvSpPr/>
          <p:nvPr/>
        </p:nvSpPr>
        <p:spPr>
          <a:xfrm>
            <a:off x="777240" y="4160520"/>
            <a:ext cx="411480" cy="411480"/>
          </a:xfrm>
          <a:prstGeom prst="ellipse">
            <a:avLst/>
          </a:prstGeom>
          <a:solidFill>
            <a:srgbClr val="7FB3E6"/>
          </a:solidFill>
          <a:ln w="12700">
            <a:solidFill>
              <a:srgbClr val="7FB3E6"/>
            </a:solidFill>
            <a:prstDash val="solid"/>
          </a:ln>
        </p:spPr>
      </p:sp>
      <p:sp>
        <p:nvSpPr>
          <p:cNvPr id="27" name="circle-text"/>
          <p:cNvSpPr txBox="1"/>
          <p:nvPr/>
        </p:nvSpPr>
        <p:spPr>
          <a:xfrm>
            <a:off x="77724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02E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k"/>
          <p:cNvSpPr txBox="1"/>
          <p:nvPr/>
        </p:nvSpPr>
        <p:spPr>
          <a:xfrm>
            <a:off x="1280160" y="4133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Método genérico</a:t>
            </a:r>
            <a:endParaRPr lang="en-US" sz="1500" dirty="0"/>
          </a:p>
        </p:txBody>
      </p:sp>
      <p:sp>
        <p:nvSpPr>
          <p:cNvPr id="29" name="t"/>
          <p:cNvSpPr txBox="1"/>
          <p:nvPr/>
        </p:nvSpPr>
        <p:spPr>
          <a:xfrm>
            <a:off x="777240" y="4709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algoritmo igual para qualquer tipo</a:t>
            </a:r>
            <a:endParaRPr lang="en-US" sz="1300" dirty="0"/>
          </a:p>
        </p:txBody>
      </p:sp>
      <p:sp>
        <p:nvSpPr>
          <p:cNvPr id="30" name="card"/>
          <p:cNvSpPr/>
          <p:nvPr/>
        </p:nvSpPr>
        <p:spPr>
          <a:xfrm>
            <a:off x="3355848" y="393192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31" name="circle"/>
          <p:cNvSpPr/>
          <p:nvPr/>
        </p:nvSpPr>
        <p:spPr>
          <a:xfrm>
            <a:off x="3584448" y="4160520"/>
            <a:ext cx="411480" cy="4114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2" name="circle-text"/>
          <p:cNvSpPr txBox="1"/>
          <p:nvPr/>
        </p:nvSpPr>
        <p:spPr>
          <a:xfrm>
            <a:off x="3584448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02E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k"/>
          <p:cNvSpPr txBox="1"/>
          <p:nvPr/>
        </p:nvSpPr>
        <p:spPr>
          <a:xfrm>
            <a:off x="4087368" y="4133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Interface genérica</a:t>
            </a:r>
            <a:endParaRPr lang="en-US" sz="1500" dirty="0"/>
          </a:p>
        </p:txBody>
      </p:sp>
      <p:sp>
        <p:nvSpPr>
          <p:cNvPr id="34" name="t"/>
          <p:cNvSpPr txBox="1"/>
          <p:nvPr/>
        </p:nvSpPr>
        <p:spPr>
          <a:xfrm>
            <a:off x="3584448" y="4709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contrato reutilizável por tipo</a:t>
            </a:r>
            <a:endParaRPr lang="en-US" sz="1300" dirty="0"/>
          </a:p>
        </p:txBody>
      </p:sp>
      <p:sp>
        <p:nvSpPr>
          <p:cNvPr id="35" name="card"/>
          <p:cNvSpPr/>
          <p:nvPr/>
        </p:nvSpPr>
        <p:spPr>
          <a:xfrm>
            <a:off x="6163056" y="393192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36" name="circle"/>
          <p:cNvSpPr/>
          <p:nvPr/>
        </p:nvSpPr>
        <p:spPr>
          <a:xfrm>
            <a:off x="6391656" y="4160520"/>
            <a:ext cx="411480" cy="411480"/>
          </a:xfrm>
          <a:prstGeom prst="ellipse">
            <a:avLst/>
          </a:prstGeom>
          <a:solidFill>
            <a:srgbClr val="3FA66B"/>
          </a:solidFill>
          <a:ln w="12700">
            <a:solidFill>
              <a:srgbClr val="3FA66B"/>
            </a:solidFill>
            <a:prstDash val="solid"/>
          </a:ln>
        </p:spPr>
      </p:sp>
      <p:sp>
        <p:nvSpPr>
          <p:cNvPr id="37" name="circle-text"/>
          <p:cNvSpPr txBox="1"/>
          <p:nvPr/>
        </p:nvSpPr>
        <p:spPr>
          <a:xfrm>
            <a:off x="6391656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02E"/>
                </a:solidFill>
              </a:rPr>
              <a:t>7</a:t>
            </a:r>
            <a:endParaRPr lang="en-US" sz="1400" dirty="0"/>
          </a:p>
        </p:txBody>
      </p:sp>
      <p:sp>
        <p:nvSpPr>
          <p:cNvPr id="38" name="k"/>
          <p:cNvSpPr txBox="1"/>
          <p:nvPr/>
        </p:nvSpPr>
        <p:spPr>
          <a:xfrm>
            <a:off x="6894576" y="4133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Herança</a:t>
            </a:r>
            <a:endParaRPr lang="en-US" sz="1500" dirty="0"/>
          </a:p>
        </p:txBody>
      </p:sp>
      <p:sp>
        <p:nvSpPr>
          <p:cNvPr id="39" name="t"/>
          <p:cNvSpPr txBox="1"/>
          <p:nvPr/>
        </p:nvSpPr>
        <p:spPr>
          <a:xfrm>
            <a:off x="6391656" y="4709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'é um'; a base traz código comum</a:t>
            </a:r>
            <a:endParaRPr lang="en-US" sz="1300" dirty="0"/>
          </a:p>
        </p:txBody>
      </p:sp>
      <p:sp>
        <p:nvSpPr>
          <p:cNvPr id="40" name="card"/>
          <p:cNvSpPr/>
          <p:nvPr/>
        </p:nvSpPr>
        <p:spPr>
          <a:xfrm>
            <a:off x="8970264" y="393192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41" name="circle"/>
          <p:cNvSpPr/>
          <p:nvPr/>
        </p:nvSpPr>
        <p:spPr>
          <a:xfrm>
            <a:off x="9198864" y="4160520"/>
            <a:ext cx="411480" cy="41148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42" name="circle-text"/>
          <p:cNvSpPr txBox="1"/>
          <p:nvPr/>
        </p:nvSpPr>
        <p:spPr>
          <a:xfrm>
            <a:off x="9198864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02E"/>
                </a:solidFill>
              </a:rPr>
              <a:t>8</a:t>
            </a:r>
            <a:endParaRPr lang="en-US" sz="1400" dirty="0"/>
          </a:p>
        </p:txBody>
      </p:sp>
      <p:sp>
        <p:nvSpPr>
          <p:cNvPr id="43" name="k"/>
          <p:cNvSpPr txBox="1"/>
          <p:nvPr/>
        </p:nvSpPr>
        <p:spPr>
          <a:xfrm>
            <a:off x="9701784" y="4133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Restrição genérica</a:t>
            </a:r>
            <a:endParaRPr lang="en-US" sz="1500" dirty="0"/>
          </a:p>
        </p:txBody>
      </p:sp>
      <p:sp>
        <p:nvSpPr>
          <p:cNvPr id="44" name="t"/>
          <p:cNvSpPr txBox="1"/>
          <p:nvPr/>
        </p:nvSpPr>
        <p:spPr>
          <a:xfrm>
            <a:off x="9198864" y="4709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 que T garante ser</a:t>
            </a:r>
            <a:endParaRPr lang="en-US" sz="1300" dirty="0"/>
          </a:p>
        </p:txBody>
      </p:sp>
      <p:sp>
        <p:nvSpPr>
          <p:cNvPr id="45" name="hint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2"/>
                </a:solidFill>
              </a:rPr>
              <a:t>Cubra a frase e tente a sua antes de ler a nossa.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194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PARTE 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Compreender com exemplos pequenos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7490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Projeto console Exemplos: sete pastas, uma por passo, cada classe em seu arquivo.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dotnet run --project Exemplos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PARTE 2 — OS SETE PASSOS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Cada pasta responde uma pergunta e isola um conceito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Leia os arquivos, preveja a saída, rode, confira. O PassoNN.cs de cada pasta termina com um bloco // EXERCÍCIO.</a:t>
            </a:r>
            <a:endParaRPr lang="en-US" sz="1500" dirty="0"/>
          </a:p>
        </p:txBody>
      </p:sp>
      <p:graphicFrame>
        <p:nvGraphicFramePr>
          <p:cNvPr id="16" name="pass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651760"/>
                <a:gridCol w="2377440"/>
                <a:gridCol w="55778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FB3E6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FB3E6"/>
                          </a:solidFill>
                        </a:rPr>
                        <a:t>Pasta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FB3E6"/>
                          </a:solidFill>
                        </a:rPr>
                        <a:t>Conceito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FB3E6"/>
                          </a:solidFill>
                        </a:rPr>
                        <a:t>O que observar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DEE8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Passo01_Acoplamento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Acoplamento e interface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RelatorioService em duas versões; troque a implementação sem tocar no service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DEE8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Passo02_Contrato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Várias implementações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Três fretes atrás de ICalculadoraFrete; o foreach não sabe qual é qual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DEE8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Passo03_Duplicacao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Por que generics existem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Caixa duplicada → object (erro em execução) → Caixa&lt;T&gt;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DEE8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Passo04_MetodosGenericos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Métodos genéricos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Trocar&lt;T&gt;, PrimeiroOuPadrao&lt;T&gt;, Paginar&lt;T&gt;; quase nunca se escreve o &lt;T&gt;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DEE8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Passo05_Heranca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Classe-base Entity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Produto e Cliente herdam Id; uma List&lt;Entity&gt; guarda os dois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DEE8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Passo06_Restricoes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where T : Entity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A versão sem restrição está comentada com o erro; descomente e veja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DEE8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A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Passo07_InterfaceGenerica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IRepository&lt;T&gt; em miniatura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Contrato + implementação + duas entidades + service: a Parte 3 em 60 linhas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PARTE 2 — COMO TRABALHAR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Ler, prever, rodar, mexer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ganho não está em ver a saída certa. Está em errar a previsão e entender por quê.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548640" y="21031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6" name="circle"/>
          <p:cNvSpPr/>
          <p:nvPr/>
        </p:nvSpPr>
        <p:spPr>
          <a:xfrm>
            <a:off x="777240" y="2331720"/>
            <a:ext cx="457200" cy="457200"/>
          </a:xfrm>
          <a:prstGeom prst="ellipse">
            <a:avLst/>
          </a:prstGeom>
          <a:solidFill>
            <a:srgbClr val="7FB3E6"/>
          </a:solidFill>
          <a:ln w="12700">
            <a:solidFill>
              <a:srgbClr val="7FB3E6"/>
            </a:solidFill>
            <a:prstDash val="solid"/>
          </a:ln>
        </p:spPr>
      </p:sp>
      <p:sp>
        <p:nvSpPr>
          <p:cNvPr id="7" name="circle-text"/>
          <p:cNvSpPr txBox="1"/>
          <p:nvPr/>
        </p:nvSpPr>
        <p:spPr>
          <a:xfrm>
            <a:off x="7772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2E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k"/>
          <p:cNvSpPr txBox="1"/>
          <p:nvPr/>
        </p:nvSpPr>
        <p:spPr>
          <a:xfrm>
            <a:off x="1371600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Ler</a:t>
            </a:r>
            <a:endParaRPr lang="en-US" sz="2000" dirty="0"/>
          </a:p>
        </p:txBody>
      </p:sp>
      <p:sp>
        <p:nvSpPr>
          <p:cNvPr id="9" name="t"/>
          <p:cNvSpPr txBox="1"/>
          <p:nvPr/>
        </p:nvSpPr>
        <p:spPr>
          <a:xfrm>
            <a:off x="777240" y="2880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os arquivos da pasta, sem rodar</a:t>
            </a:r>
            <a:endParaRPr lang="en-US" sz="1300" dirty="0"/>
          </a:p>
        </p:txBody>
      </p:sp>
      <p:sp>
        <p:nvSpPr>
          <p:cNvPr id="10" name="arrow"/>
          <p:cNvSpPr/>
          <p:nvPr/>
        </p:nvSpPr>
        <p:spPr>
          <a:xfrm>
            <a:off x="3154680" y="2788920"/>
            <a:ext cx="201168" cy="0"/>
          </a:xfrm>
          <a:prstGeom prst="line">
            <a:avLst/>
          </a:prstGeom>
          <a:noFill/>
          <a:ln w="19050">
            <a:solidFill>
              <a:srgbClr val="7A8794"/>
            </a:solidFill>
            <a:prstDash val="solid"/>
            <a:tailEnd type="triangle"/>
          </a:ln>
        </p:spPr>
      </p:sp>
      <p:sp>
        <p:nvSpPr>
          <p:cNvPr id="11" name="card"/>
          <p:cNvSpPr/>
          <p:nvPr/>
        </p:nvSpPr>
        <p:spPr>
          <a:xfrm>
            <a:off x="3355848" y="21031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12" name="circle"/>
          <p:cNvSpPr/>
          <p:nvPr/>
        </p:nvSpPr>
        <p:spPr>
          <a:xfrm>
            <a:off x="3584448" y="2331720"/>
            <a:ext cx="457200" cy="4572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3" name="circle-text"/>
          <p:cNvSpPr txBox="1"/>
          <p:nvPr/>
        </p:nvSpPr>
        <p:spPr>
          <a:xfrm>
            <a:off x="3584448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2E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k"/>
          <p:cNvSpPr txBox="1"/>
          <p:nvPr/>
        </p:nvSpPr>
        <p:spPr>
          <a:xfrm>
            <a:off x="4178808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Prever</a:t>
            </a:r>
            <a:endParaRPr lang="en-US" sz="2000" dirty="0"/>
          </a:p>
        </p:txBody>
      </p:sp>
      <p:sp>
        <p:nvSpPr>
          <p:cNvPr id="15" name="t"/>
          <p:cNvSpPr txBox="1"/>
          <p:nvPr/>
        </p:nvSpPr>
        <p:spPr>
          <a:xfrm>
            <a:off x="3584448" y="2880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saída no papel</a:t>
            </a:r>
            <a:endParaRPr lang="en-US" sz="1300" dirty="0"/>
          </a:p>
        </p:txBody>
      </p:sp>
      <p:sp>
        <p:nvSpPr>
          <p:cNvPr id="16" name="arrow"/>
          <p:cNvSpPr/>
          <p:nvPr/>
        </p:nvSpPr>
        <p:spPr>
          <a:xfrm>
            <a:off x="5961888" y="2788920"/>
            <a:ext cx="201168" cy="0"/>
          </a:xfrm>
          <a:prstGeom prst="line">
            <a:avLst/>
          </a:prstGeom>
          <a:noFill/>
          <a:ln w="19050">
            <a:solidFill>
              <a:srgbClr val="7A8794"/>
            </a:solidFill>
            <a:prstDash val="solid"/>
            <a:tailEnd type="triangle"/>
          </a:ln>
        </p:spPr>
      </p:sp>
      <p:sp>
        <p:nvSpPr>
          <p:cNvPr id="17" name="card"/>
          <p:cNvSpPr/>
          <p:nvPr/>
        </p:nvSpPr>
        <p:spPr>
          <a:xfrm>
            <a:off x="6163056" y="21031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18" name="circle"/>
          <p:cNvSpPr/>
          <p:nvPr/>
        </p:nvSpPr>
        <p:spPr>
          <a:xfrm>
            <a:off x="6391656" y="2331720"/>
            <a:ext cx="457200" cy="457200"/>
          </a:xfrm>
          <a:prstGeom prst="ellipse">
            <a:avLst/>
          </a:prstGeom>
          <a:solidFill>
            <a:srgbClr val="3FA66B"/>
          </a:solidFill>
          <a:ln w="12700">
            <a:solidFill>
              <a:srgbClr val="3FA66B"/>
            </a:solidFill>
            <a:prstDash val="solid"/>
          </a:ln>
        </p:spPr>
      </p:sp>
      <p:sp>
        <p:nvSpPr>
          <p:cNvPr id="19" name="circle-text"/>
          <p:cNvSpPr txBox="1"/>
          <p:nvPr/>
        </p:nvSpPr>
        <p:spPr>
          <a:xfrm>
            <a:off x="6391656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2E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k"/>
          <p:cNvSpPr txBox="1"/>
          <p:nvPr/>
        </p:nvSpPr>
        <p:spPr>
          <a:xfrm>
            <a:off x="6986016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Rodar</a:t>
            </a:r>
            <a:endParaRPr lang="en-US" sz="2000" dirty="0"/>
          </a:p>
        </p:txBody>
      </p:sp>
      <p:sp>
        <p:nvSpPr>
          <p:cNvPr id="21" name="t"/>
          <p:cNvSpPr txBox="1"/>
          <p:nvPr/>
        </p:nvSpPr>
        <p:spPr>
          <a:xfrm>
            <a:off x="6391656" y="2880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 comparar com a previsão</a:t>
            </a:r>
            <a:endParaRPr lang="en-US" sz="1300" dirty="0"/>
          </a:p>
        </p:txBody>
      </p:sp>
      <p:sp>
        <p:nvSpPr>
          <p:cNvPr id="22" name="arrow"/>
          <p:cNvSpPr/>
          <p:nvPr/>
        </p:nvSpPr>
        <p:spPr>
          <a:xfrm>
            <a:off x="8769096" y="2788920"/>
            <a:ext cx="201168" cy="0"/>
          </a:xfrm>
          <a:prstGeom prst="line">
            <a:avLst/>
          </a:prstGeom>
          <a:noFill/>
          <a:ln w="19050">
            <a:solidFill>
              <a:srgbClr val="7A8794"/>
            </a:solidFill>
            <a:prstDash val="solid"/>
            <a:tailEnd type="triangle"/>
          </a:ln>
        </p:spPr>
      </p:sp>
      <p:sp>
        <p:nvSpPr>
          <p:cNvPr id="23" name="card"/>
          <p:cNvSpPr/>
          <p:nvPr/>
        </p:nvSpPr>
        <p:spPr>
          <a:xfrm>
            <a:off x="8970264" y="21031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24" name="circle"/>
          <p:cNvSpPr/>
          <p:nvPr/>
        </p:nvSpPr>
        <p:spPr>
          <a:xfrm>
            <a:off x="9198864" y="2331720"/>
            <a:ext cx="457200" cy="45720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5" name="circle-text"/>
          <p:cNvSpPr txBox="1"/>
          <p:nvPr/>
        </p:nvSpPr>
        <p:spPr>
          <a:xfrm>
            <a:off x="9198864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2E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k"/>
          <p:cNvSpPr txBox="1"/>
          <p:nvPr/>
        </p:nvSpPr>
        <p:spPr>
          <a:xfrm>
            <a:off x="9793224" y="2286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Mexer</a:t>
            </a:r>
            <a:endParaRPr lang="en-US" sz="2000" dirty="0"/>
          </a:p>
        </p:txBody>
      </p:sp>
      <p:sp>
        <p:nvSpPr>
          <p:cNvPr id="27" name="t"/>
          <p:cNvSpPr txBox="1"/>
          <p:nvPr/>
        </p:nvSpPr>
        <p:spPr>
          <a:xfrm>
            <a:off x="9198864" y="2880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 exercício do PassoNN.cs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548640" y="3749040"/>
            <a:ext cx="53949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29" name="label"/>
          <p:cNvSpPr txBox="1"/>
          <p:nvPr/>
        </p:nvSpPr>
        <p:spPr>
          <a:xfrm>
            <a:off x="82296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</a:rPr>
              <a:t>EXERCÍCIOS QUE MEDEM ACOPLAMENTO</a:t>
            </a:r>
            <a:endParaRPr lang="en-US" sz="1200" dirty="0"/>
          </a:p>
        </p:txBody>
      </p:sp>
      <p:sp>
        <p:nvSpPr>
          <p:cNvPr id="30" name="para"/>
          <p:cNvSpPr txBox="1"/>
          <p:nvPr/>
        </p:nvSpPr>
        <p:spPr>
          <a:xfrm>
            <a:off x="822960" y="425196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Passo 1: troque EmailNotificador por ConsoleNotificador. Quantos arquivos mudaram?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Passo 2: adicione FreteRetiradaNaLoja. O foreach mudou?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Passo 6: remova o where T : Entity e leia o erro inteiro.</a:t>
            </a:r>
            <a:endParaRPr lang="en-US" sz="1300" dirty="0"/>
          </a:p>
        </p:txBody>
      </p:sp>
      <p:sp>
        <p:nvSpPr>
          <p:cNvPr id="31" name="card"/>
          <p:cNvSpPr/>
          <p:nvPr/>
        </p:nvSpPr>
        <p:spPr>
          <a:xfrm>
            <a:off x="6217920" y="3749040"/>
            <a:ext cx="539496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32" name="label"/>
          <p:cNvSpPr txBox="1"/>
          <p:nvPr/>
        </p:nvSpPr>
        <p:spPr>
          <a:xfrm>
            <a:off x="649224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66B"/>
                </a:solidFill>
              </a:rPr>
              <a:t>CHECKPOINT ANTES DA PARTE 3</a:t>
            </a:r>
            <a:endParaRPr lang="en-US" sz="1200" dirty="0"/>
          </a:p>
        </p:txBody>
      </p:sp>
      <p:sp>
        <p:nvSpPr>
          <p:cNvPr id="33" name="para"/>
          <p:cNvSpPr txBox="1"/>
          <p:nvPr/>
        </p:nvSpPr>
        <p:spPr>
          <a:xfrm>
            <a:off x="6492240" y="425196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Sem olhar o código, escreva de cabeça: uma interface com dois métodos, Caixa&lt;T&gt;, Trocar&lt;T&gt;, Entity e uma derivada, e a assinatura class Repository&lt;T&gt; : IRepository&lt;T&gt; where T : Entity.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Faltou algum? Volte ao passo correspondente.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194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PARTE 3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Evoluir para a implementação prática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7490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CatalogoApi: um catálogo de produtos em Controller, Service, Repository e Domain, com listas em memória.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Um arquivo por vez, compilando a cada passo. Tente antes de olhar o código pronto.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PARTE 3 — ARQUITETURA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Todos apontam para o Domain. O Domain não aponta para ninguém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Controller conhece IProdutoService, não ProdutoService. Service conhece IProdutoRepository, não ProdutoRepository. Só o Program.cs conhece as classes concretas.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548640" y="2103120"/>
            <a:ext cx="29260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6" name="box-t"/>
          <p:cNvSpPr txBox="1"/>
          <p:nvPr/>
        </p:nvSpPr>
        <p:spPr>
          <a:xfrm>
            <a:off x="731520" y="22128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B3E6"/>
                </a:solidFill>
              </a:rPr>
              <a:t>Controller/</a:t>
            </a:r>
            <a:endParaRPr lang="en-US" sz="1600" dirty="0"/>
          </a:p>
        </p:txBody>
      </p:sp>
      <p:sp>
        <p:nvSpPr>
          <p:cNvPr id="7" name="para"/>
          <p:cNvSpPr txBox="1"/>
          <p:nvPr/>
        </p:nvSpPr>
        <p:spPr>
          <a:xfrm>
            <a:off x="731520" y="2606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ProdutosController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CategoriasController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ErrosHandler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548640" y="3794760"/>
            <a:ext cx="29260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9" name="box-t"/>
          <p:cNvSpPr txBox="1"/>
          <p:nvPr/>
        </p:nvSpPr>
        <p:spPr>
          <a:xfrm>
            <a:off x="731520" y="39044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3B"/>
                </a:solidFill>
              </a:rPr>
              <a:t>Service/</a:t>
            </a:r>
            <a:endParaRPr lang="en-US" sz="1600" dirty="0"/>
          </a:p>
        </p:txBody>
      </p:sp>
      <p:sp>
        <p:nvSpPr>
          <p:cNvPr id="10" name="para"/>
          <p:cNvSpPr txBox="1"/>
          <p:nvPr/>
        </p:nvSpPr>
        <p:spPr>
          <a:xfrm>
            <a:off x="731520" y="4297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ProdutoService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CategoriaService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ServiceHelpers (métodos genéricos)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8686800" y="2926080"/>
            <a:ext cx="29260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12" name="box-t"/>
          <p:cNvSpPr txBox="1"/>
          <p:nvPr/>
        </p:nvSpPr>
        <p:spPr>
          <a:xfrm>
            <a:off x="8869680" y="30358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A66B"/>
                </a:solidFill>
              </a:rPr>
              <a:t>Repository/</a:t>
            </a:r>
            <a:endParaRPr lang="en-US" sz="1600" dirty="0"/>
          </a:p>
        </p:txBody>
      </p:sp>
      <p:sp>
        <p:nvSpPr>
          <p:cNvPr id="13" name="para"/>
          <p:cNvSpPr txBox="1"/>
          <p:nvPr/>
        </p:nvSpPr>
        <p:spPr>
          <a:xfrm>
            <a:off x="8869680" y="3429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Repository&lt;T&gt;  (base abstrata)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ProdutoRepository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CategoriaRepository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3931920" y="2103120"/>
            <a:ext cx="4297680" cy="3749040"/>
          </a:xfrm>
          <a:prstGeom prst="roundRect">
            <a:avLst>
              <a:gd name="adj" fmla="val 1951"/>
            </a:avLst>
          </a:prstGeom>
          <a:solidFill>
            <a:schemeClr val="bg2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15" name="dom"/>
          <p:cNvSpPr txBox="1"/>
          <p:nvPr/>
        </p:nvSpPr>
        <p:spPr>
          <a:xfrm>
            <a:off x="4114800" y="22128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Domain/</a:t>
            </a:r>
            <a:endParaRPr lang="en-US" sz="1800" dirty="0"/>
          </a:p>
        </p:txBody>
      </p:sp>
      <p:sp>
        <p:nvSpPr>
          <p:cNvPr id="16" name="sub"/>
          <p:cNvSpPr txBox="1"/>
          <p:nvPr/>
        </p:nvSpPr>
        <p:spPr>
          <a:xfrm>
            <a:off x="4114800" y="2697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Entities/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Entity, Produto, Categoria</a:t>
            </a:r>
            <a:endParaRPr lang="en-US" sz="1200" dirty="0"/>
          </a:p>
        </p:txBody>
      </p:sp>
      <p:sp>
        <p:nvSpPr>
          <p:cNvPr id="17" name="sub"/>
          <p:cNvSpPr txBox="1"/>
          <p:nvPr/>
        </p:nvSpPr>
        <p:spPr>
          <a:xfrm>
            <a:off x="4114800" y="330098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Repositories/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IRepository&lt;T&gt;, IProdutoRepository, ICategoriaRepository</a:t>
            </a:r>
            <a:endParaRPr lang="en-US" sz="1200" dirty="0"/>
          </a:p>
        </p:txBody>
      </p:sp>
      <p:sp>
        <p:nvSpPr>
          <p:cNvPr id="18" name="sub"/>
          <p:cNvSpPr txBox="1"/>
          <p:nvPr/>
        </p:nvSpPr>
        <p:spPr>
          <a:xfrm>
            <a:off x="4114800" y="39044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Services/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IProdutoService, ICategoriaService</a:t>
            </a:r>
            <a:endParaRPr lang="en-US" sz="1200" dirty="0"/>
          </a:p>
        </p:txBody>
      </p:sp>
      <p:sp>
        <p:nvSpPr>
          <p:cNvPr id="19" name="sub"/>
          <p:cNvSpPr txBox="1"/>
          <p:nvPr/>
        </p:nvSpPr>
        <p:spPr>
          <a:xfrm>
            <a:off x="4114800" y="450799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Dtos/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Pagina&lt;T&gt;, requests e responses</a:t>
            </a:r>
            <a:endParaRPr lang="en-US" sz="1200" dirty="0"/>
          </a:p>
        </p:txBody>
      </p:sp>
      <p:sp>
        <p:nvSpPr>
          <p:cNvPr id="20" name="sub"/>
          <p:cNvSpPr txBox="1"/>
          <p:nvPr/>
        </p:nvSpPr>
        <p:spPr>
          <a:xfrm>
            <a:off x="4114800" y="511149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Exceptions/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DomainException, NaoEncontradoException</a:t>
            </a:r>
            <a:endParaRPr lang="en-US" sz="1200" dirty="0"/>
          </a:p>
        </p:txBody>
      </p:sp>
      <p:sp>
        <p:nvSpPr>
          <p:cNvPr id="21" name="arrow"/>
          <p:cNvSpPr/>
          <p:nvPr/>
        </p:nvSpPr>
        <p:spPr>
          <a:xfrm>
            <a:off x="3474720" y="2788920"/>
            <a:ext cx="457200" cy="0"/>
          </a:xfrm>
          <a:prstGeom prst="line">
            <a:avLst/>
          </a:prstGeom>
          <a:noFill/>
          <a:ln w="19050">
            <a:solidFill>
              <a:srgbClr val="7FB3E6"/>
            </a:solidFill>
            <a:prstDash val="solid"/>
            <a:tailEnd type="triangle"/>
          </a:ln>
        </p:spPr>
      </p:sp>
      <p:sp>
        <p:nvSpPr>
          <p:cNvPr id="22" name="arrow"/>
          <p:cNvSpPr/>
          <p:nvPr/>
        </p:nvSpPr>
        <p:spPr>
          <a:xfrm>
            <a:off x="3474720" y="4480560"/>
            <a:ext cx="457200" cy="0"/>
          </a:xfrm>
          <a:prstGeom prst="line">
            <a:avLst/>
          </a:prstGeom>
          <a:noFill/>
          <a:ln w="19050">
            <a:solidFill>
              <a:srgbClr val="7FB3E6"/>
            </a:solidFill>
            <a:prstDash val="solid"/>
            <a:tailEnd type="triangle"/>
          </a:ln>
        </p:spPr>
      </p:sp>
      <p:sp>
        <p:nvSpPr>
          <p:cNvPr id="23" name="arrow"/>
          <p:cNvSpPr/>
          <p:nvPr/>
        </p:nvSpPr>
        <p:spPr>
          <a:xfrm flipH="1">
            <a:off x="8229600" y="3630168"/>
            <a:ext cx="457200" cy="0"/>
          </a:xfrm>
          <a:prstGeom prst="line">
            <a:avLst/>
          </a:prstGeom>
          <a:noFill/>
          <a:ln w="19050">
            <a:solidFill>
              <a:srgbClr val="3FA66B"/>
            </a:solidFill>
            <a:prstDash val="solid"/>
            <a:tailEnd type="triangle"/>
          </a:ln>
        </p:spPr>
      </p:sp>
      <p:sp>
        <p:nvSpPr>
          <p:cNvPr id="24" name="legenda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Setas = 'depende de'. Repository implementa as interfaces do Domain; Service implementa IProdutoService e usa IProdutoRepository; Controller usa IProdutoService.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PARTE 3 — PASSOS 3.2 E 3.3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Entity concentra a identidade; Produto se mantém válido sozinho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Antes de escrever: o set de Id deve ser público? Quem deveria poder trocar o id de uma entidade depois de criada?</a:t>
            </a:r>
            <a:endParaRPr lang="en-US" sz="1500" dirty="0"/>
          </a:p>
        </p:txBody>
      </p:sp>
      <p:sp>
        <p:nvSpPr>
          <p:cNvPr id="5" name="code-bg"/>
          <p:cNvSpPr/>
          <p:nvPr/>
        </p:nvSpPr>
        <p:spPr>
          <a:xfrm>
            <a:off x="548640" y="2103120"/>
            <a:ext cx="4206240" cy="1371600"/>
          </a:xfrm>
          <a:prstGeom prst="roundRect">
            <a:avLst>
              <a:gd name="adj" fmla="val 4000"/>
            </a:avLst>
          </a:prstGeom>
          <a:solidFill>
            <a:srgbClr val="0B1420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658368" y="2176272"/>
            <a:ext cx="398678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Domain/Entities/Entity.cs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class Entity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Guid Id { get; protected set; 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 Guid.NewGuid();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para"/>
          <p:cNvSpPr txBox="1"/>
          <p:nvPr/>
        </p:nvSpPr>
        <p:spPr>
          <a:xfrm>
            <a:off x="548640" y="361188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abstract: 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ninguém cria new Entity() solto; ela existe para ser herdada.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protected set: 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só a própria classe e as filhas mexem no Id.</a:t>
            </a:r>
            <a:endParaRPr lang="en-US" sz="1300" dirty="0"/>
          </a:p>
        </p:txBody>
      </p:sp>
      <p:sp>
        <p:nvSpPr>
          <p:cNvPr id="8" name="code-bg"/>
          <p:cNvSpPr/>
          <p:nvPr/>
        </p:nvSpPr>
        <p:spPr>
          <a:xfrm>
            <a:off x="5029200" y="2103120"/>
            <a:ext cx="6583680" cy="3429000"/>
          </a:xfrm>
          <a:prstGeom prst="roundRect">
            <a:avLst>
              <a:gd name="adj" fmla="val 1600"/>
            </a:avLst>
          </a:prstGeom>
          <a:solidFill>
            <a:srgbClr val="0B1420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9" name="code"/>
          <p:cNvSpPr txBox="1"/>
          <p:nvPr/>
        </p:nvSpPr>
        <p:spPr>
          <a:xfrm>
            <a:off x="5138928" y="2176272"/>
            <a:ext cx="6364224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Domain/Entities/Produto.cs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Produto : Entity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Nome { get; private set;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decimal Preco { get; private set;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bool Ativo { get; private set;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Produto(string nome, decimal preco)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(string.IsNullOrWhiteSpace(nome))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DomainException("Nome é obrigatório.");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(preco &lt; 0)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DomainException("Preço não pode ser negativo.");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Nome = nome.Trim(); Preco = preco; Ativo = true;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AtualizarPreco(decimal novoPreco) { /* valida e atribui */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Desativar() =&gt; Ativo = false;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check-bg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B2A3F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11" name="check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VERIFICAÇÃO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Por que não deixar set público em tudo? Se qualquer linha do sistema pode colocar preço -10, de quem vira a responsabilidade de validar?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PARTE 3 — PASSOS 3.4 E 3.5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 contrato genérico e o contrato específico que herda dele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Aqui está a resposta da Verificação 6: consultas exclusivas de uma entidade moram no contrato dela, não no genérico.</a:t>
            </a:r>
            <a:endParaRPr lang="en-US" sz="1500" dirty="0"/>
          </a:p>
        </p:txBody>
      </p:sp>
      <p:sp>
        <p:nvSpPr>
          <p:cNvPr id="5" name="code-bg"/>
          <p:cNvSpPr/>
          <p:nvPr/>
        </p:nvSpPr>
        <p:spPr>
          <a:xfrm>
            <a:off x="548640" y="2103120"/>
            <a:ext cx="5486400" cy="2377440"/>
          </a:xfrm>
          <a:prstGeom prst="roundRect">
            <a:avLst>
              <a:gd name="adj" fmla="val 2308"/>
            </a:avLst>
          </a:prstGeom>
          <a:solidFill>
            <a:srgbClr val="0B1420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658368" y="2176272"/>
            <a:ext cx="526694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Domain/Repositories/IRepository.cs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IRepository&lt;T&gt; where T : Entity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IReadOnlyList&lt;T&gt; ObterTodos();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T? ObterPorId(Guid id);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Adicionar(T entidade);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Atualizar(T entidade);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Remover(Guid id);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code-bg"/>
          <p:cNvSpPr/>
          <p:nvPr/>
        </p:nvSpPr>
        <p:spPr>
          <a:xfrm>
            <a:off x="6309360" y="2103120"/>
            <a:ext cx="5303520" cy="2377440"/>
          </a:xfrm>
          <a:prstGeom prst="roundRect">
            <a:avLst>
              <a:gd name="adj" fmla="val 2308"/>
            </a:avLst>
          </a:prstGeom>
          <a:solidFill>
            <a:srgbClr val="0B1420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419088" y="2176272"/>
            <a:ext cx="5084064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Domain/Repositories/IProdutoRepository.cs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IProdutoRepository : IRepository&lt;Produto&gt;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IReadOnlyList&lt;Produto&gt; ObterAtivos();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ExisteComNome(string nome);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herda as cinco operações sem repetir nenhuma;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acrescenta só o que é de produto.</a:t>
            </a:r>
            <a:endParaRPr lang="en-US" sz="1100" dirty="0"/>
          </a:p>
        </p:txBody>
      </p:sp>
      <p:sp>
        <p:nvSpPr>
          <p:cNvPr id="9" name="card"/>
          <p:cNvSpPr/>
          <p:nvPr/>
        </p:nvSpPr>
        <p:spPr>
          <a:xfrm>
            <a:off x="548640" y="4617720"/>
            <a:ext cx="110642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10" name="disc"/>
          <p:cNvSpPr txBox="1"/>
          <p:nvPr/>
        </p:nvSpPr>
        <p:spPr>
          <a:xfrm>
            <a:off x="777240" y="46177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Discuta: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interface IRepository&lt;T&gt; precisa de where T : Entity? Ela não usa .Id, então tecnicamente não. A restrição é obrigatória só na implementação. Colocamos na interface para deixar o contrato explícito: 'só guardo entidades'. Os dois lados são defensáveis.</a:t>
            </a:r>
            <a:endParaRPr lang="en-US" sz="1300" dirty="0"/>
          </a:p>
        </p:txBody>
      </p:sp>
      <p:sp>
        <p:nvSpPr>
          <p:cNvPr id="11" name="check-bg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B2A3F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12" name="check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VERIFICAÇÃO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 que IProdutoRepository ganha ao herdar de IRepository&lt;Produto&gt; em vez de copiar os cinco métodos?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PARTE 3 — PASSO 3.6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base traz o CRUD; a filha escreve só o que é dela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Tente escrever ObterPorId sem a restrição primeiro. Leia o erro. Depois adicione where T : Entity.</a:t>
            </a:r>
            <a:endParaRPr lang="en-US" sz="1500" dirty="0"/>
          </a:p>
        </p:txBody>
      </p:sp>
      <p:sp>
        <p:nvSpPr>
          <p:cNvPr id="5" name="code-bg"/>
          <p:cNvSpPr/>
          <p:nvPr/>
        </p:nvSpPr>
        <p:spPr>
          <a:xfrm>
            <a:off x="548640" y="2103120"/>
            <a:ext cx="6400800" cy="3429000"/>
          </a:xfrm>
          <a:prstGeom prst="roundRect">
            <a:avLst>
              <a:gd name="adj" fmla="val 1600"/>
            </a:avLst>
          </a:prstGeom>
          <a:solidFill>
            <a:srgbClr val="0B1420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658368" y="2176272"/>
            <a:ext cx="6181344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Repository/Repository.cs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abstract class Repository&lt;T&gt; : IRepository&lt;T&gt; where T : Entity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readonly List&lt;T&gt; _itens = new();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IReadOnlyList&lt;T&gt; ObterTodos() =&gt; _itens.ToList();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T? ObterPorId(Guid id) =&gt; _itens.FirstOrDefault(x =&gt; x.Id == id);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Adicionar(T entidade) =&gt; _itens.Add(entidade);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Atualizar(T entidade) { /* substitui pelo Id */ 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Remover(Guid id) =&gt; _itens.RemoveAll(x =&gt; x.Id == id);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ponto de extensão para as filhas: o service nunca vê a lista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IReadOnlyList&lt;T&gt; Consultar(Func&lt;T, bool&gt; filtro)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_itens.Where(filtro).ToList();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7" name="code-bg"/>
          <p:cNvSpPr/>
          <p:nvPr/>
        </p:nvSpPr>
        <p:spPr>
          <a:xfrm>
            <a:off x="7223760" y="2103120"/>
            <a:ext cx="4389120" cy="2103120"/>
          </a:xfrm>
          <a:prstGeom prst="roundRect">
            <a:avLst>
              <a:gd name="adj" fmla="val 2609"/>
            </a:avLst>
          </a:prstGeom>
          <a:solidFill>
            <a:srgbClr val="0B1420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7333488" y="2176272"/>
            <a:ext cx="4169664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Repository/ProdutoRepository.cs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ProdutoRepository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Repository&lt;Produto&gt;, IProdutoRepository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IReadOnlyList&lt;Produto&gt; ObterAtivos()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Consultar(p =&gt; p.Ativo);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bool ExisteComNome(string nome)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Consultar(p =&gt; p.Nome == nome).Count &gt; 0;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card"/>
          <p:cNvSpPr/>
          <p:nvPr/>
        </p:nvSpPr>
        <p:spPr>
          <a:xfrm>
            <a:off x="7223760" y="4343400"/>
            <a:ext cx="43891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10" name="para"/>
          <p:cNvSpPr txBox="1"/>
          <p:nvPr/>
        </p:nvSpPr>
        <p:spPr>
          <a:xfrm>
            <a:off x="7452360" y="44348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Herda e implementa na mesma linha: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Repository&lt;Produto&gt; traz o código; IProdutoRepository é o contrato que ela assina. Seção 1.7 em ação.</a:t>
            </a:r>
            <a:endParaRPr lang="en-US" sz="1200" dirty="0"/>
          </a:p>
        </p:txBody>
      </p:sp>
      <p:sp>
        <p:nvSpPr>
          <p:cNvPr id="11" name="check-bg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B2A3F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12" name="check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VERIFICAÇÃO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Quantas linhas de CRUD existem em ProdutoRepository? Se amanhã Repository&lt;T&gt; salvar em JSON, ProdutoRepository muda?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PARTE 3 — PASSOS 3.7 E 3.8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 service implementa um contrato do Domain e depende de outro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IProdutoService descreve a regra de negócio vista de fora, por isso mora no Domain. ProdutoService é só uma forma de cumpri-la.</a:t>
            </a:r>
            <a:endParaRPr lang="en-US" sz="1500" dirty="0"/>
          </a:p>
        </p:txBody>
      </p:sp>
      <p:sp>
        <p:nvSpPr>
          <p:cNvPr id="5" name="code-bg"/>
          <p:cNvSpPr/>
          <p:nvPr/>
        </p:nvSpPr>
        <p:spPr>
          <a:xfrm>
            <a:off x="548640" y="2103120"/>
            <a:ext cx="4937760" cy="2194560"/>
          </a:xfrm>
          <a:prstGeom prst="roundRect">
            <a:avLst>
              <a:gd name="adj" fmla="val 2500"/>
            </a:avLst>
          </a:prstGeom>
          <a:solidFill>
            <a:srgbClr val="0B1420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658368" y="2176272"/>
            <a:ext cx="4718304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Domain/Services/IProdutoService.cs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IProdutoService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Pagina&lt;ProdutoResponse&gt; Listar(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pagina, int tamanho, bool somenteAtivos);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ProdutoResponse Obter(Guid id);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ProdutoResponse Criar(CriarProdutoRequest req);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ProdutoResponse AtualizarPreco(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Guid id, AtualizarPrecoRequest req);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ProdutoResponse Desativar(Guid id);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Remover(Guid id);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code-bg"/>
          <p:cNvSpPr/>
          <p:nvPr/>
        </p:nvSpPr>
        <p:spPr>
          <a:xfrm>
            <a:off x="5760720" y="2103120"/>
            <a:ext cx="5852160" cy="3429000"/>
          </a:xfrm>
          <a:prstGeom prst="roundRect">
            <a:avLst>
              <a:gd name="adj" fmla="val 1600"/>
            </a:avLst>
          </a:prstGeom>
          <a:solidFill>
            <a:srgbClr val="0B1420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5870448" y="2176272"/>
            <a:ext cx="5632704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Service/ProdutoService.cs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ProdutoService : IProdutoService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readonly IProdutoRepository _produtos;   // o contrato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ProdutoService(IProdutoRepository produtos)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_produtos = produtos;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ProdutoResponse Criar(CriarProdutoRequest request)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(_produtos.ExisteComNome(request.Nome))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DomainException("Já existe um produto com esse nome.");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a entidade valida por dentro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produto = new Produto(request.Nome, request.Preco);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_produtos.Adicionar(produto);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ParaResponse(produto);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...Listar, Obter, AtualizarPreco, Desativar, Remover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card"/>
          <p:cNvSpPr/>
          <p:nvPr/>
        </p:nvSpPr>
        <p:spPr>
          <a:xfrm>
            <a:off x="548640" y="4434840"/>
            <a:ext cx="493776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10" name="para"/>
          <p:cNvSpPr txBox="1"/>
          <p:nvPr/>
        </p:nvSpPr>
        <p:spPr>
          <a:xfrm>
            <a:off x="777240" y="45262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accent2"/>
                </a:solidFill>
              </a:rPr>
              <a:t>DTOs no Domain/Dtos: 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o service recebe e devolve records simples, nunca a entidade crua. A entidade fica livre para mudar sem quebrar a resposta HTTP.</a:t>
            </a:r>
            <a:endParaRPr lang="en-US" sz="1200" dirty="0"/>
          </a:p>
        </p:txBody>
      </p:sp>
      <p:sp>
        <p:nvSpPr>
          <p:cNvPr id="11" name="check-bg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B2A3F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12" name="check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VERIFICAÇÃO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ProdutoService consegue ser testado sem subir a API e sem banco? O que você passaria no construtor?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PARTE 3 — PASSO 3.9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Dois métodos genéricos que todo service usa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algoritmo é o mesmo para qualquer tipo, então é escrito uma vez só. Repare onde a restrição é necessária e onde não é.</a:t>
            </a:r>
            <a:endParaRPr lang="en-US" sz="1500" dirty="0"/>
          </a:p>
        </p:txBody>
      </p:sp>
      <p:sp>
        <p:nvSpPr>
          <p:cNvPr id="5" name="code-bg"/>
          <p:cNvSpPr/>
          <p:nvPr/>
        </p:nvSpPr>
        <p:spPr>
          <a:xfrm>
            <a:off x="548640" y="2103120"/>
            <a:ext cx="5486400" cy="2651760"/>
          </a:xfrm>
          <a:prstGeom prst="roundRect">
            <a:avLst>
              <a:gd name="adj" fmla="val 2069"/>
            </a:avLst>
          </a:prstGeom>
          <a:solidFill>
            <a:srgbClr val="0B1420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658368" y="2176272"/>
            <a:ext cx="5266944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Paginar não precisa saber NADA sobre T.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Por isso não tem restrição.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Pagina&lt;T&gt; Paginar&lt;T&gt;(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IEnumerable&lt;T&gt; itens, int pagina, int tamanho)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lista = itens.ToList();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recorte = lista.Skip((pagina - 1) * tamanho)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.Take(tamanho).ToList();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Pagina&lt;T&gt;(recorte, pagina, tamanho, lista.Count);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code-bg"/>
          <p:cNvSpPr/>
          <p:nvPr/>
        </p:nvSpPr>
        <p:spPr>
          <a:xfrm>
            <a:off x="6309360" y="2103120"/>
            <a:ext cx="5303520" cy="2651760"/>
          </a:xfrm>
          <a:prstGeom prst="roundRect">
            <a:avLst>
              <a:gd name="adj" fmla="val 2069"/>
            </a:avLst>
          </a:prstGeom>
          <a:solidFill>
            <a:srgbClr val="0B1420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419088" y="2176272"/>
            <a:ext cx="5084064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Aqui a restrição é OBRIGATÓRIA: IRepository&lt;T&gt;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exige T : Entity, então o método também.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T ObterOuFalhar&lt;T&gt;(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 IRepository&lt;T&gt; repositorio, Guid id)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T : Entity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repositorio.ObterPorId(id)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?? throw new NaoEncontradoException(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$"{typeof(T).Name} {id} não encontrado.");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uso"/>
          <p:cNvSpPr txBox="1"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ProdutoService   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Paginar(produtos.Select(ParaResponse), ...)    </a:t>
            </a:r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_produtos.ObterOuFalhar(id)</a:t>
            </a:r>
            <a:endParaRPr lang="en-US" sz="1150" dirty="0"/>
          </a:p>
        </p:txBody>
      </p:sp>
      <p:sp>
        <p:nvSpPr>
          <p:cNvPr id="10" name="uso"/>
          <p:cNvSpPr txBox="1"/>
          <p:nvPr/>
        </p:nvSpPr>
        <p:spPr>
          <a:xfrm>
            <a:off x="548640" y="52760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CategoriaService 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Paginar(categorias.Select(ParaResponse), ...)    </a:t>
            </a:r>
            <a:pPr indent="0" marL="0">
              <a:buNone/>
            </a:pPr>
            <a:r>
              <a:rPr lang="en-US" sz="1150" dirty="0">
                <a:solidFill>
                  <a:schemeClr val="accent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_categorias.ObterOuFalhar(id)</a:t>
            </a:r>
            <a:endParaRPr lang="en-US" sz="1150" dirty="0"/>
          </a:p>
        </p:txBody>
      </p:sp>
      <p:sp>
        <p:nvSpPr>
          <p:cNvPr id="11" name="check-bg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B2A3F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12" name="check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VERIFICAÇÃO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 você escrevesse PaginarProdutos e PaginarCategorias separados, o que teria em comum? E o que mudaria?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PARTE 3 — PASSOS 3.10 E 3.11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Controller fino e um único lugar que conhece as classes concretas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controller traduz HTTP para o contrato e o resultado para status code. Zero regra de negócio.</a:t>
            </a:r>
            <a:endParaRPr lang="en-US" sz="1500" dirty="0"/>
          </a:p>
        </p:txBody>
      </p:sp>
      <p:sp>
        <p:nvSpPr>
          <p:cNvPr id="5" name="code-bg"/>
          <p:cNvSpPr/>
          <p:nvPr/>
        </p:nvSpPr>
        <p:spPr>
          <a:xfrm>
            <a:off x="548640" y="2103120"/>
            <a:ext cx="5852160" cy="3429000"/>
          </a:xfrm>
          <a:prstGeom prst="roundRect">
            <a:avLst>
              <a:gd name="adj" fmla="val 1600"/>
            </a:avLst>
          </a:prstGeom>
          <a:solidFill>
            <a:srgbClr val="0B1420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658368" y="2176272"/>
            <a:ext cx="5632704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Controller/ProdutosController.cs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[ApiController, Route("api/produtos")]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ProdutosController : ControllerBase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readonly IProdutoService _service;   // contrato, não classe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ProdutosController(IProdutoService service) =&gt; _service = service;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[HttpPost]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ActionResult&lt;ProdutoResponse&gt; Criar(CriarProdutoRequest request)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produto = _service.Criar(request);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CreatedAtAction(nameof(Obter), new { id = produto.Id }, produto);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[HttpGet("{id:guid}")]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ActionResult&lt;ProdutoResponse&gt; Obter(Guid id)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Ok(_service.Obter(id));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code-bg"/>
          <p:cNvSpPr/>
          <p:nvPr/>
        </p:nvSpPr>
        <p:spPr>
          <a:xfrm>
            <a:off x="6675120" y="2103120"/>
            <a:ext cx="4937760" cy="1828800"/>
          </a:xfrm>
          <a:prstGeom prst="roundRect">
            <a:avLst>
              <a:gd name="adj" fmla="val 3000"/>
            </a:avLst>
          </a:prstGeom>
          <a:solidFill>
            <a:srgbClr val="0B1420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8" name="code"/>
          <p:cNvSpPr txBox="1"/>
          <p:nvPr/>
        </p:nvSpPr>
        <p:spPr>
          <a:xfrm>
            <a:off x="6784848" y="2176272"/>
            <a:ext cx="471830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Program.cs — composição (services = builder.Services)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services.AddSingleton&lt;IProdutoRepository, ProdutoRepository&gt;();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services.AddSingleton&lt;ICategoriaRepository, CategoriaRepository&gt;();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services.AddScoped&lt;IProdutoService, ProdutoService&gt;();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services.AddScoped&lt;ICategoriaService, CategoriaService&gt;();</a:t>
            </a:r>
            <a:endParaRPr lang="en-US" sz="950" dirty="0"/>
          </a:p>
        </p:txBody>
      </p:sp>
      <p:sp>
        <p:nvSpPr>
          <p:cNvPr id="9" name="card"/>
          <p:cNvSpPr/>
          <p:nvPr/>
        </p:nvSpPr>
        <p:spPr>
          <a:xfrm>
            <a:off x="6675120" y="4069080"/>
            <a:ext cx="49377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10" name="label"/>
          <p:cNvSpPr txBox="1"/>
          <p:nvPr/>
        </p:nvSpPr>
        <p:spPr>
          <a:xfrm>
            <a:off x="690372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</a:rPr>
              <a:t>POR QUE SINGLETON NO REPOSITÓRIO?</a:t>
            </a:r>
            <a:endParaRPr lang="en-US" sz="1200" dirty="0"/>
          </a:p>
        </p:txBody>
      </p:sp>
      <p:sp>
        <p:nvSpPr>
          <p:cNvPr id="11" name="para"/>
          <p:cNvSpPr txBox="1"/>
          <p:nvPr/>
        </p:nvSpPr>
        <p:spPr>
          <a:xfrm>
            <a:off x="6903720" y="45262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 lista em memória é o nosso banco. Se fosse Scoped, cada requisição ganharia uma lista nova e vazia.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Exceções viram status em ErrosHandler: DomainException → 400, NaoEncontradoException → 404.</a:t>
            </a:r>
            <a:endParaRPr lang="en-US" sz="1200" dirty="0"/>
          </a:p>
        </p:txBody>
      </p:sp>
      <p:sp>
        <p:nvSpPr>
          <p:cNvPr id="12" name="check-bg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B2A3F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13" name="check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VERIFICAÇÃO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Quando trocarmos a lista por um banco real, Singleton continua fazendo sentido para o repositório? E para o DbContext?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PARTE 3 — PASSO 3.13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prova dos nove: uma segunda entidade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Crie Categoria : Entity, ICategoriaRepository, CategoriaRepository, ICategoriaService, CategoriaService e CategoriasController. Depois conte.</a:t>
            </a:r>
            <a:endParaRPr lang="en-US" sz="1500" dirty="0"/>
          </a:p>
        </p:txBody>
      </p:sp>
      <p:sp>
        <p:nvSpPr>
          <p:cNvPr id="5" name="code-bg"/>
          <p:cNvSpPr/>
          <p:nvPr/>
        </p:nvSpPr>
        <p:spPr>
          <a:xfrm>
            <a:off x="548640" y="2103120"/>
            <a:ext cx="5486400" cy="1737360"/>
          </a:xfrm>
          <a:prstGeom prst="roundRect">
            <a:avLst>
              <a:gd name="adj" fmla="val 3158"/>
            </a:avLst>
          </a:prstGeom>
          <a:solidFill>
            <a:srgbClr val="0B1420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6" name="code"/>
          <p:cNvSpPr txBox="1"/>
          <p:nvPr/>
        </p:nvSpPr>
        <p:spPr>
          <a:xfrm>
            <a:off x="658368" y="2176272"/>
            <a:ext cx="526694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A87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Repository/CategoriaRepository.cs — INTEIRO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CategoriaRepository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Repository&lt;Categoria&gt;, ICategoriaRepository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Categoria? ObterPorNome(string nome)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Consultar(c =&gt; c.Nome == nome).FirstOrDefault();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6DE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tat"/>
          <p:cNvSpPr txBox="1"/>
          <p:nvPr/>
        </p:nvSpPr>
        <p:spPr>
          <a:xfrm>
            <a:off x="6309360" y="20116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FA66B"/>
                </a:solidFill>
              </a:rPr>
              <a:t>0</a:t>
            </a:r>
            <a:endParaRPr lang="en-US" sz="6000" dirty="0"/>
          </a:p>
        </p:txBody>
      </p:sp>
      <p:sp>
        <p:nvSpPr>
          <p:cNvPr id="8" name="stat-l"/>
          <p:cNvSpPr txBox="1"/>
          <p:nvPr/>
        </p:nvSpPr>
        <p:spPr>
          <a:xfrm>
            <a:off x="6309360" y="30175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linhas de CRUD escritas em CategoriaRepository</a:t>
            </a:r>
            <a:endParaRPr lang="en-US" sz="1100" dirty="0"/>
          </a:p>
        </p:txBody>
      </p:sp>
      <p:sp>
        <p:nvSpPr>
          <p:cNvPr id="9" name="stat"/>
          <p:cNvSpPr txBox="1"/>
          <p:nvPr/>
        </p:nvSpPr>
        <p:spPr>
          <a:xfrm>
            <a:off x="8092440" y="20116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7FB3E6"/>
                </a:solidFill>
              </a:rPr>
              <a:t>0</a:t>
            </a:r>
            <a:endParaRPr lang="en-US" sz="6000" dirty="0"/>
          </a:p>
        </p:txBody>
      </p:sp>
      <p:sp>
        <p:nvSpPr>
          <p:cNvPr id="10" name="stat-l"/>
          <p:cNvSpPr txBox="1"/>
          <p:nvPr/>
        </p:nvSpPr>
        <p:spPr>
          <a:xfrm>
            <a:off x="8092440" y="30175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mudanças em IRepository&lt;T&gt; e Repository&lt;T&gt;</a:t>
            </a:r>
            <a:endParaRPr lang="en-US" sz="1100" dirty="0"/>
          </a:p>
        </p:txBody>
      </p:sp>
      <p:sp>
        <p:nvSpPr>
          <p:cNvPr id="11" name="stat"/>
          <p:cNvSpPr txBox="1"/>
          <p:nvPr/>
        </p:nvSpPr>
        <p:spPr>
          <a:xfrm>
            <a:off x="9875520" y="201168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A93B"/>
                </a:solidFill>
              </a:rPr>
              <a:t>1</a:t>
            </a:r>
            <a:endParaRPr lang="en-US" sz="6000" dirty="0"/>
          </a:p>
        </p:txBody>
      </p:sp>
      <p:sp>
        <p:nvSpPr>
          <p:cNvPr id="12" name="stat-l"/>
          <p:cNvSpPr txBox="1"/>
          <p:nvPr/>
        </p:nvSpPr>
        <p:spPr>
          <a:xfrm>
            <a:off x="9875520" y="30175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consulta própria: ObterPorNome</a:t>
            </a:r>
            <a:endParaRPr lang="en-US" sz="1100" dirty="0"/>
          </a:p>
        </p:txBody>
      </p:sp>
      <p:sp>
        <p:nvSpPr>
          <p:cNvPr id="13" name="para"/>
          <p:cNvSpPr txBox="1"/>
          <p:nvPr/>
        </p:nvSpPr>
        <p:spPr>
          <a:xfrm>
            <a:off x="548640" y="40690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Isso é reutilização de verdade: não é copiar e colar, é escrever uma vez e herdar N vezes.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Program.cs entram duas linhas: o registro do repositório e o do service. Todo o resto do sistema não percebeu que Categoria existe.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 com a Aula 2, onde cada entidade exigiria o próprio repositório completo.</a:t>
            </a:r>
            <a:endParaRPr lang="en-US" sz="1400" dirty="0"/>
          </a:p>
        </p:txBody>
      </p:sp>
      <p:sp>
        <p:nvSpPr>
          <p:cNvPr id="14" name="check-bg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B2A3F"/>
          </a:solidFill>
          <a:ln w="9525">
            <a:solidFill>
              <a:srgbClr val="F2A93B"/>
            </a:solidFill>
            <a:prstDash val="solid"/>
          </a:ln>
        </p:spPr>
      </p:sp>
      <p:sp>
        <p:nvSpPr>
          <p:cNvPr id="15" name="check"/>
          <p:cNvSpPr txBox="1"/>
          <p:nvPr/>
        </p:nvSpPr>
        <p:spPr>
          <a:xfrm>
            <a:off x="731520" y="566928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VERIFICAÇÃO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Agora faça sozinho: Fornecedor : Entity com Nome e Cnpj, repositório, service e controller. Meta: nenhuma linha de CRUD.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PARTE 3 — CHECKPOINT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Responda olhando o seu código, não o nosso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Cinco perguntas. Cada uma aponta para um conceito da Parte 1.</a:t>
            </a:r>
            <a:endParaRPr lang="en-US" sz="1500" dirty="0"/>
          </a:p>
        </p:txBody>
      </p:sp>
      <p:sp>
        <p:nvSpPr>
          <p:cNvPr id="5" name="circle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7FB3E6"/>
          </a:solidFill>
          <a:ln w="12700">
            <a:solidFill>
              <a:srgbClr val="7FB3E6"/>
            </a:solidFill>
            <a:prstDash val="solid"/>
          </a:ln>
        </p:spPr>
      </p:sp>
      <p:sp>
        <p:nvSpPr>
          <p:cNvPr id="6" name="circle-text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2E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q"/>
          <p:cNvSpPr txBox="1"/>
          <p:nvPr/>
        </p:nvSpPr>
        <p:spPr>
          <a:xfrm>
            <a:off x="1188720" y="21031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Onde está a única linha que sabe que ProdutoRepository existe?</a:t>
            </a:r>
            <a:endParaRPr lang="en-US" sz="1500" dirty="0"/>
          </a:p>
        </p:txBody>
      </p:sp>
      <p:sp>
        <p:nvSpPr>
          <p:cNvPr id="8" name="hint"/>
          <p:cNvSpPr txBox="1"/>
          <p:nvPr/>
        </p:nvSpPr>
        <p:spPr>
          <a:xfrm>
            <a:off x="8321040" y="2103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Acoplamento · Program.cs</a:t>
            </a:r>
            <a:endParaRPr lang="en-US" sz="1200" dirty="0"/>
          </a:p>
        </p:txBody>
      </p:sp>
      <p:sp>
        <p:nvSpPr>
          <p:cNvPr id="9" name="circle"/>
          <p:cNvSpPr/>
          <p:nvPr/>
        </p:nvSpPr>
        <p:spPr>
          <a:xfrm>
            <a:off x="548640" y="2962656"/>
            <a:ext cx="457200" cy="4572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0" name="circle-text"/>
          <p:cNvSpPr txBox="1"/>
          <p:nvPr/>
        </p:nvSpPr>
        <p:spPr>
          <a:xfrm>
            <a:off x="54864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2E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q"/>
          <p:cNvSpPr txBox="1"/>
          <p:nvPr/>
        </p:nvSpPr>
        <p:spPr>
          <a:xfrm>
            <a:off x="1188720" y="287121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Se Repository&lt;T&gt; passar a salvar em arquivo JSON, quais arquivos mudam?</a:t>
            </a:r>
            <a:endParaRPr lang="en-US" sz="1500" dirty="0"/>
          </a:p>
        </p:txBody>
      </p:sp>
      <p:sp>
        <p:nvSpPr>
          <p:cNvPr id="12" name="hint"/>
          <p:cNvSpPr txBox="1"/>
          <p:nvPr/>
        </p:nvSpPr>
        <p:spPr>
          <a:xfrm>
            <a:off x="8321040" y="287121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Abstração · só Repository/</a:t>
            </a:r>
            <a:endParaRPr lang="en-US" sz="1200" dirty="0"/>
          </a:p>
        </p:txBody>
      </p:sp>
      <p:sp>
        <p:nvSpPr>
          <p:cNvPr id="13" name="circle"/>
          <p:cNvSpPr/>
          <p:nvPr/>
        </p:nvSpPr>
        <p:spPr>
          <a:xfrm>
            <a:off x="548640" y="3730752"/>
            <a:ext cx="457200" cy="457200"/>
          </a:xfrm>
          <a:prstGeom prst="ellipse">
            <a:avLst/>
          </a:prstGeom>
          <a:solidFill>
            <a:srgbClr val="3FA66B"/>
          </a:solidFill>
          <a:ln w="12700">
            <a:solidFill>
              <a:srgbClr val="3FA66B"/>
            </a:solidFill>
            <a:prstDash val="solid"/>
          </a:ln>
        </p:spPr>
      </p:sp>
      <p:sp>
        <p:nvSpPr>
          <p:cNvPr id="14" name="circle-text"/>
          <p:cNvSpPr txBox="1"/>
          <p:nvPr/>
        </p:nvSpPr>
        <p:spPr>
          <a:xfrm>
            <a:off x="54864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2E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q"/>
          <p:cNvSpPr txBox="1"/>
          <p:nvPr/>
        </p:nvSpPr>
        <p:spPr>
          <a:xfrm>
            <a:off x="1188720" y="3639312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 se passar a usar SQL?</a:t>
            </a:r>
            <a:endParaRPr lang="en-US" sz="1500" dirty="0"/>
          </a:p>
        </p:txBody>
      </p:sp>
      <p:sp>
        <p:nvSpPr>
          <p:cNvPr id="16" name="hint"/>
          <p:cNvSpPr txBox="1"/>
          <p:nvPr/>
        </p:nvSpPr>
        <p:spPr>
          <a:xfrm>
            <a:off x="8321040" y="36393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Interface · o contrato não muda</a:t>
            </a:r>
            <a:endParaRPr lang="en-US" sz="1200" dirty="0"/>
          </a:p>
        </p:txBody>
      </p:sp>
      <p:sp>
        <p:nvSpPr>
          <p:cNvPr id="17" name="circle"/>
          <p:cNvSpPr/>
          <p:nvPr/>
        </p:nvSpPr>
        <p:spPr>
          <a:xfrm>
            <a:off x="548640" y="4498848"/>
            <a:ext cx="457200" cy="45720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8" name="circle-text"/>
          <p:cNvSpPr txBox="1"/>
          <p:nvPr/>
        </p:nvSpPr>
        <p:spPr>
          <a:xfrm>
            <a:off x="54864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2E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q"/>
          <p:cNvSpPr txBox="1"/>
          <p:nvPr/>
        </p:nvSpPr>
        <p:spPr>
          <a:xfrm>
            <a:off x="1188720" y="440740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ProdutoService consegue ser testado sem subir a API? Como?</a:t>
            </a:r>
            <a:endParaRPr lang="en-US" sz="1500" dirty="0"/>
          </a:p>
        </p:txBody>
      </p:sp>
      <p:sp>
        <p:nvSpPr>
          <p:cNvPr id="20" name="hint"/>
          <p:cNvSpPr txBox="1"/>
          <p:nvPr/>
        </p:nvSpPr>
        <p:spPr>
          <a:xfrm>
            <a:off x="8321040" y="440740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Inversão de dependência · repositório falso</a:t>
            </a:r>
            <a:endParaRPr lang="en-US" sz="1200" dirty="0"/>
          </a:p>
        </p:txBody>
      </p:sp>
      <p:sp>
        <p:nvSpPr>
          <p:cNvPr id="21" name="circle"/>
          <p:cNvSpPr/>
          <p:nvPr/>
        </p:nvSpPr>
        <p:spPr>
          <a:xfrm>
            <a:off x="548640" y="5266944"/>
            <a:ext cx="457200" cy="457200"/>
          </a:xfrm>
          <a:prstGeom prst="ellipse">
            <a:avLst/>
          </a:prstGeom>
          <a:solidFill>
            <a:srgbClr val="7FB3E6"/>
          </a:solidFill>
          <a:ln w="12700">
            <a:solidFill>
              <a:srgbClr val="7FB3E6"/>
            </a:solidFill>
            <a:prstDash val="solid"/>
          </a:ln>
        </p:spPr>
      </p:sp>
      <p:sp>
        <p:nvSpPr>
          <p:cNvPr id="22" name="circle-text"/>
          <p:cNvSpPr txBox="1"/>
          <p:nvPr/>
        </p:nvSpPr>
        <p:spPr>
          <a:xfrm>
            <a:off x="548640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02E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q"/>
          <p:cNvSpPr txBox="1"/>
          <p:nvPr/>
        </p:nvSpPr>
        <p:spPr>
          <a:xfrm>
            <a:off x="1188720" y="5175504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Por que IProdutoService fica no Domain e ProdutoService não?</a:t>
            </a:r>
            <a:endParaRPr lang="en-US" sz="1500" dirty="0"/>
          </a:p>
        </p:txBody>
      </p:sp>
      <p:sp>
        <p:nvSpPr>
          <p:cNvPr id="24" name="hint"/>
          <p:cNvSpPr txBox="1"/>
          <p:nvPr/>
        </p:nvSpPr>
        <p:spPr>
          <a:xfrm>
            <a:off x="8321040" y="51755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Contrato × implementação · o que × como</a:t>
            </a:r>
            <a:endParaRPr lang="en-US" sz="1200" dirty="0"/>
          </a:p>
        </p:txBody>
      </p:sp>
      <p:sp>
        <p:nvSpPr>
          <p:cNvPr id="25" name="n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As dicas à direita são o conceito por trás. Cubra-as na primeira rodada.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EXERCÍCIOS FINAIS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Para fazer sozinho, depois da aula</a:t>
            </a:r>
            <a:endParaRPr lang="en-US" sz="3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Cada exercício força um conceito. O último é para explicar, não para codar.</a:t>
            </a:r>
            <a:endParaRPr lang="en-US" sz="1500" dirty="0"/>
          </a:p>
        </p:txBody>
      </p:sp>
      <p:sp>
        <p:nvSpPr>
          <p:cNvPr id="5" name="card"/>
          <p:cNvSpPr/>
          <p:nvPr/>
        </p:nvSpPr>
        <p:spPr>
          <a:xfrm>
            <a:off x="548640" y="2103120"/>
            <a:ext cx="35661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6" name="circle"/>
          <p:cNvSpPr/>
          <p:nvPr/>
        </p:nvSpPr>
        <p:spPr>
          <a:xfrm>
            <a:off x="777240" y="2331720"/>
            <a:ext cx="411480" cy="411480"/>
          </a:xfrm>
          <a:prstGeom prst="ellipse">
            <a:avLst/>
          </a:prstGeom>
          <a:solidFill>
            <a:srgbClr val="7FB3E6"/>
          </a:solidFill>
          <a:ln w="12700">
            <a:solidFill>
              <a:srgbClr val="7FB3E6"/>
            </a:solidFill>
            <a:prstDash val="solid"/>
          </a:ln>
        </p:spPr>
      </p:sp>
      <p:sp>
        <p:nvSpPr>
          <p:cNvPr id="7" name="circle-text"/>
          <p:cNvSpPr txBox="1"/>
          <p:nvPr/>
        </p:nvSpPr>
        <p:spPr>
          <a:xfrm>
            <a:off x="77724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02E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k"/>
          <p:cNvSpPr txBox="1"/>
          <p:nvPr/>
        </p:nvSpPr>
        <p:spPr>
          <a:xfrm>
            <a:off x="128016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Nova entidade do zero</a:t>
            </a:r>
            <a:endParaRPr lang="en-US" sz="1500" dirty="0"/>
          </a:p>
        </p:txBody>
      </p:sp>
      <p:sp>
        <p:nvSpPr>
          <p:cNvPr id="9" name="t"/>
          <p:cNvSpPr txBox="1"/>
          <p:nvPr/>
        </p:nvSpPr>
        <p:spPr>
          <a:xfrm>
            <a:off x="777240" y="28803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Fornecedor : Entity com Nome e Cnpj, repositório, service e controller. Sem tocar em IRepository&lt;T&gt; nem Repository&lt;T&gt;, sem nenhuma linha de CRUD.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4297680" y="2103120"/>
            <a:ext cx="35661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11" name="circle"/>
          <p:cNvSpPr/>
          <p:nvPr/>
        </p:nvSpPr>
        <p:spPr>
          <a:xfrm>
            <a:off x="4526280" y="2331720"/>
            <a:ext cx="411480" cy="4114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2" name="circle-text"/>
          <p:cNvSpPr txBox="1"/>
          <p:nvPr/>
        </p:nvSpPr>
        <p:spPr>
          <a:xfrm>
            <a:off x="452628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02E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k"/>
          <p:cNvSpPr txBox="1"/>
          <p:nvPr/>
        </p:nvSpPr>
        <p:spPr>
          <a:xfrm>
            <a:off x="502920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Novo método genérico</a:t>
            </a:r>
            <a:endParaRPr lang="en-US" sz="1500" dirty="0"/>
          </a:p>
        </p:txBody>
      </p:sp>
      <p:sp>
        <p:nvSpPr>
          <p:cNvPr id="14" name="t"/>
          <p:cNvSpPr txBox="1"/>
          <p:nvPr/>
        </p:nvSpPr>
        <p:spPr>
          <a:xfrm>
            <a:off x="4526280" y="28803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Ordenar&lt;T, TChave&gt;(IEnumerable&lt;T&gt;, Func&lt;T, TChave&gt;) em ServiceHelpers; use em Listar para ordenar por nome. Olhe a assinatura do OrderBy.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8046720" y="2103120"/>
            <a:ext cx="35661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16" name="circle"/>
          <p:cNvSpPr/>
          <p:nvPr/>
        </p:nvSpPr>
        <p:spPr>
          <a:xfrm>
            <a:off x="8275320" y="2331720"/>
            <a:ext cx="411480" cy="411480"/>
          </a:xfrm>
          <a:prstGeom prst="ellipse">
            <a:avLst/>
          </a:prstGeom>
          <a:solidFill>
            <a:srgbClr val="3FA66B"/>
          </a:solidFill>
          <a:ln w="12700">
            <a:solidFill>
              <a:srgbClr val="3FA66B"/>
            </a:solidFill>
            <a:prstDash val="solid"/>
          </a:ln>
        </p:spPr>
      </p:sp>
      <p:sp>
        <p:nvSpPr>
          <p:cNvPr id="17" name="circle-text"/>
          <p:cNvSpPr txBox="1"/>
          <p:nvPr/>
        </p:nvSpPr>
        <p:spPr>
          <a:xfrm>
            <a:off x="827532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02E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k"/>
          <p:cNvSpPr txBox="1"/>
          <p:nvPr/>
        </p:nvSpPr>
        <p:spPr>
          <a:xfrm>
            <a:off x="877824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Segunda implementação do contrato</a:t>
            </a:r>
            <a:endParaRPr lang="en-US" sz="1500" dirty="0"/>
          </a:p>
        </p:txBody>
      </p:sp>
      <p:sp>
        <p:nvSpPr>
          <p:cNvPr id="19" name="t"/>
          <p:cNvSpPr txBox="1"/>
          <p:nvPr/>
        </p:nvSpPr>
        <p:spPr>
          <a:xfrm>
            <a:off x="8275320" y="28803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ProdutoRepositoryComLog : IProdutoRepository, delegando para um ProdutoRepository interno e logando cada operação. Troque no Program.cs. Quantos arquivos mudaram?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548640" y="4114800"/>
            <a:ext cx="35661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21" name="circle"/>
          <p:cNvSpPr/>
          <p:nvPr/>
        </p:nvSpPr>
        <p:spPr>
          <a:xfrm>
            <a:off x="777240" y="4343400"/>
            <a:ext cx="411480" cy="41148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2" name="circle-text"/>
          <p:cNvSpPr txBox="1"/>
          <p:nvPr/>
        </p:nvSpPr>
        <p:spPr>
          <a:xfrm>
            <a:off x="77724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02E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k"/>
          <p:cNvSpPr txBox="1"/>
          <p:nvPr/>
        </p:nvSpPr>
        <p:spPr>
          <a:xfrm>
            <a:off x="1280160" y="4297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Restrição extra</a:t>
            </a:r>
            <a:endParaRPr lang="en-US" sz="1500" dirty="0"/>
          </a:p>
        </p:txBody>
      </p:sp>
      <p:sp>
        <p:nvSpPr>
          <p:cNvPr id="24" name="t"/>
          <p:cNvSpPr txBox="1"/>
          <p:nvPr/>
        </p:nvSpPr>
        <p:spPr>
          <a:xfrm>
            <a:off x="777240" y="48920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IAtivavel { bool Ativo; void Desativar(); } em Produto; DesativarTodos&lt;T&gt;(IRepository&lt;T&gt;) where T : Entity, IAtivavel. Por que precisa das duas?</a:t>
            </a:r>
            <a:endParaRPr lang="en-US" sz="1200" dirty="0"/>
          </a:p>
        </p:txBody>
      </p:sp>
      <p:sp>
        <p:nvSpPr>
          <p:cNvPr id="25" name="card"/>
          <p:cNvSpPr/>
          <p:nvPr/>
        </p:nvSpPr>
        <p:spPr>
          <a:xfrm>
            <a:off x="4297680" y="4114800"/>
            <a:ext cx="731520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rgbClr val="2A4B75"/>
            </a:solidFill>
            <a:prstDash val="solid"/>
          </a:ln>
        </p:spPr>
      </p:sp>
      <p:sp>
        <p:nvSpPr>
          <p:cNvPr id="26" name="circle"/>
          <p:cNvSpPr/>
          <p:nvPr/>
        </p:nvSpPr>
        <p:spPr>
          <a:xfrm>
            <a:off x="4526280" y="4343400"/>
            <a:ext cx="411480" cy="411480"/>
          </a:xfrm>
          <a:prstGeom prst="ellipse">
            <a:avLst/>
          </a:prstGeom>
          <a:solidFill>
            <a:srgbClr val="7FB3E6"/>
          </a:solidFill>
          <a:ln w="12700">
            <a:solidFill>
              <a:srgbClr val="7FB3E6"/>
            </a:solidFill>
            <a:prstDash val="solid"/>
          </a:ln>
        </p:spPr>
      </p:sp>
      <p:sp>
        <p:nvSpPr>
          <p:cNvPr id="27" name="circle-text"/>
          <p:cNvSpPr txBox="1"/>
          <p:nvPr/>
        </p:nvSpPr>
        <p:spPr>
          <a:xfrm>
            <a:off x="452628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02E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k"/>
          <p:cNvSpPr txBox="1"/>
          <p:nvPr/>
        </p:nvSpPr>
        <p:spPr>
          <a:xfrm>
            <a:off x="5029200" y="4297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Para explicar</a:t>
            </a:r>
            <a:endParaRPr lang="en-US" sz="1500" dirty="0"/>
          </a:p>
        </p:txBody>
      </p:sp>
      <p:sp>
        <p:nvSpPr>
          <p:cNvPr id="29" name="t"/>
          <p:cNvSpPr txBox="1"/>
          <p:nvPr/>
        </p:nvSpPr>
        <p:spPr>
          <a:xfrm>
            <a:off x="4526280" y="489204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Um parágrafo para um colega: por que IRepository&lt;T&gt; é melhor que três interfaces repetidas. Outro: quando você ainda criaria IProdutoRepository específico.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RESUMO EM UMA TELA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Oito conceitos, uma frase cada, e onde cada um está no CatalogoApi</a:t>
            </a:r>
            <a:endParaRPr lang="en-US" sz="3000" dirty="0"/>
          </a:p>
        </p:txBody>
      </p:sp>
      <p:graphicFrame>
        <p:nvGraphicFramePr>
          <p:cNvPr id="29" name="resum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840480"/>
                <a:gridCol w="5394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FB3E6"/>
                          </a:solidFill>
                        </a:rPr>
                        <a:t>Conceito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FB3E6"/>
                          </a:solidFill>
                        </a:rPr>
                        <a:t>Frase-chave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7FB3E6"/>
                          </a:solidFill>
                        </a:rPr>
                        <a:t>Onde está no CatalogoApi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A93B"/>
                          </a:solidFill>
                        </a:rPr>
                        <a:t>Abstração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Esconder o detalhe, expor o essencial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6DE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Produto valida por dentro; quem usa só chama AtualizarPreco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A93B"/>
                          </a:solidFill>
                        </a:rPr>
                        <a:t>Interface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Contrato: diz o que, não como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6DE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Domain/Repositories/IRepository.cs, Domain/Services/IProdutoService.cs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A93B"/>
                          </a:solidFill>
                        </a:rPr>
                        <a:t>Acoplamento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Quanto uma classe sabe da outra; quanto menos, melhor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6DE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Controller recebe IProdutoService; service recebe IProdutoRepository; ninguém dá new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A93B"/>
                          </a:solidFill>
                        </a:rPr>
                        <a:t>Generics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Escrever uma vez, tipo em aberto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6DE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IRepository&lt;T&gt;, Repository&lt;T&gt;, Pagina&lt;T&gt;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A93B"/>
                          </a:solidFill>
                        </a:rPr>
                        <a:t>Método genérico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Algoritmo igual para qualquer tipo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6DE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ServiceHelpers.Paginar&lt;T&gt;, ObterOuFalhar&lt;T&gt;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A93B"/>
                          </a:solidFill>
                        </a:rPr>
                        <a:t>Interface genérica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Contrato reutilizável por tipo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6DE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IProdutoRepository : IRepository&lt;Produto&gt;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A93B"/>
                          </a:solidFill>
                        </a:rPr>
                        <a:t>Herança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'É um'; a base traz código comum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6DE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Produto : Entity, ProdutoRepository : Repository&lt;Produto&gt;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2A93B"/>
                          </a:solidFill>
                        </a:rPr>
                        <a:t>Restrição genérica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6DEE8"/>
                          </a:solidFill>
                        </a:rPr>
                        <a:t>O que T garante ser</a:t>
                      </a:r>
                      <a:endParaRPr lang="en-US" sz="1200" dirty="0"/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D6DEE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where T : Entity em Repository&lt;T&gt; e ObterOuFalhar&lt;T&gt;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B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0"/>
                    </a:solidFill>
                  </a:tcPr>
                </a:tc>
              </a:tr>
            </a:tbl>
          </a:graphicData>
        </a:graphic>
      </p:graphicFrame>
      <p:sp>
        <p:nvSpPr>
          <p:cNvPr id="6" name="Text 0"/>
          <p:cNvSpPr/>
          <p:nvPr>
            <p:ph idx="102" type="body" hasCustomPrompt="1"/>
          </p:nvPr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463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PRÓXIMA AULA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92024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Hoje foi a ferramenta. Lá será o desenho.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5661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O que muda quando o domínio cresce e as entidades passam a carregar regras de negócio de verdade: Domain-Driven Design.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Até lá: faça os cinco exercícios e traga o Fornecedor pronto.</a:t>
            </a:r>
            <a:endParaRPr lang="en-US" sz="2000" dirty="0"/>
          </a:p>
        </p:txBody>
      </p:sp>
      <p:sp>
        <p:nvSpPr>
          <p:cNvPr id="5" name="mat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Material: README.md · Exemplos/ · CatalogoApi/ · CatalogoApi.http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tagiario Aula 3">
  <a:themeElements>
    <a:clrScheme name="Estagiario Aula 3">
      <a:dk1>
        <a:srgbClr val="D6DEE8"/>
      </a:dk1>
      <a:lt1>
        <a:srgbClr val="14202E"/>
      </a:lt1>
      <a:dk2>
        <a:srgbClr val="FFFFFF"/>
      </a:dk2>
      <a:lt2>
        <a:srgbClr val="1F3A5F"/>
      </a:lt2>
      <a:accent1>
        <a:srgbClr val="7FB3E6"/>
      </a:accent1>
      <a:accent2>
        <a:srgbClr val="F2A93B"/>
      </a:accent2>
      <a:accent3>
        <a:srgbClr val="3FA66B"/>
      </a:accent3>
      <a:accent4>
        <a:srgbClr val="D9534F"/>
      </a:accent4>
      <a:accent5>
        <a:srgbClr val="7A8794"/>
      </a:accent5>
      <a:accent6>
        <a:srgbClr val="2A4B75"/>
      </a:accent6>
      <a:hlink>
        <a:srgbClr val="7FB3E6"/>
      </a:hlink>
      <a:folHlink>
        <a:srgbClr val="F2A93B"/>
      </a:folHlink>
    </a:clrScheme>
    <a:fontScheme name="Estagiario Aula 3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3 – POO: Abstrações, Interfaces e Generics</dc:title>
  <dc:subject>PptxGenJS Presentation</dc:subject>
  <dc:creator>Programa de Estágio</dc:creator>
  <cp:lastModifiedBy>Programa de Estágio</cp:lastModifiedBy>
  <cp:revision>1</cp:revision>
  <dcterms:created xsi:type="dcterms:W3CDTF">2026-10-21T20:40:37Z</dcterms:created>
  <dcterms:modified xsi:type="dcterms:W3CDTF">2026-10-21T20:40:37Z</dcterms:modified>
</cp:coreProperties>
</file>