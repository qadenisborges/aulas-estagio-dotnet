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ae8f379c-528a-d65d-6858-ccc92a5a859c}">
          <p14:sldIdLst>
            <p14:sldId id="256"/>
          </p14:sldIdLst>
        </p14:section>
        <p14:section name="Parte 1 — Acoplamento" id="{287c7bf6-7623-bd5e-24d4-d326e86c424a}">
          <p14:sldIdLst>
            <p14:sldId id="257"/>
          </p14:sldIdLst>
        </p14:section>
        <p14:section name="Parte 2 — Abstrações e interfaces" id="{510b5507-271a-3db2-f0a4-16a7fa86903d}">
          <p14:sldIdLst>
            <p14:sldId id="258"/>
            <p14:sldId id="259"/>
          </p14:sldIdLst>
        </p14:section>
        <p14:section name="Parte 3 — Repository" id="{39fe3608-6b53-5b25-d482-8f3379ec1270}">
          <p14:sldIdLst>
            <p14:sldId id="260"/>
            <p14:sldId id="261"/>
          </p14:sldIdLst>
        </p14:section>
        <p14:section name="Parte 4 — Injeção de Dependência" id="{dd2010dc-a2d5-0c8e-d18a-98c9b4da41c6}">
          <p14:sldIdLst>
            <p14:sldId id="262"/>
            <p14:sldId id="263"/>
          </p14:sldIdLst>
        </p14:section>
        <p14:section name="Parte 5 — SOLID e DDD" id="{188b25ae-7a14-d432-9e24-15226b7dcff4}">
          <p14:sldIdLst>
            <p14:sldId id="264"/>
            <p14:sldId id="265"/>
            <p14:sldId id="266"/>
          </p14:sldIdLst>
        </p14:section>
        <p14:section name="Parte 6 — Fechamento" id="{427c827c-2164-2f50-8672-526e878985fa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Abstrações · Repository · DI · DDD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PARTE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Título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02412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Resumo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Abstrações · Repository · DI · DDD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AULA TÉCNICA · 30 MINUTOS · C# / .NET</a:t>
            </a:r>
            <a:endParaRPr lang="en-US" sz="1300" dirty="0"/>
          </a:p>
        </p:txBody>
      </p:sp>
      <p:sp>
        <p:nvSpPr>
          <p:cNvPr id="3" name="text-2"/>
          <p:cNvSpPr txBox="1"/>
          <p:nvPr/>
        </p:nvSpPr>
        <p:spPr>
          <a:xfrm>
            <a:off x="548640" y="1234440"/>
            <a:ext cx="6766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chemeClr val="bg1"/>
                </a:solidFill>
              </a:rPr>
              <a:t>Abstrações, Repository, DI e um primeiro passo em DDD</a:t>
            </a:r>
            <a:endParaRPr lang="en-US" sz="4200" dirty="0"/>
          </a:p>
        </p:txBody>
      </p:sp>
      <p:sp>
        <p:nvSpPr>
          <p:cNvPr id="4" name="text-3"/>
          <p:cNvSpPr txBox="1"/>
          <p:nvPr/>
        </p:nvSpPr>
        <p:spPr>
          <a:xfrm>
            <a:off x="548640" y="35204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Como usar abstrações para desacoplar o código e preparar a aplicação para evoluir.</a:t>
            </a:r>
            <a:endParaRPr lang="en-US" sz="1800" dirty="0"/>
          </a:p>
        </p:txBody>
      </p:sp>
      <p:sp>
        <p:nvSpPr>
          <p:cNvPr id="5" name="text-4"/>
          <p:cNvSpPr txBox="1"/>
          <p:nvPr/>
        </p:nvSpPr>
        <p:spPr>
          <a:xfrm>
            <a:off x="548640" y="44348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Um bizu geral de Engenharia de Software: o essencial, quando usar e os erros mais comuns. Exemplo único: uma API de pedidos.</a:t>
            </a:r>
            <a:endParaRPr lang="en-US" sz="1400" dirty="0"/>
          </a:p>
        </p:txBody>
      </p:sp>
      <p:sp>
        <p:nvSpPr>
          <p:cNvPr id="6" name="text-5"/>
          <p:cNvSpPr txBox="1"/>
          <p:nvPr/>
        </p:nvSpPr>
        <p:spPr>
          <a:xfrm>
            <a:off x="795528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ROTEIRO</a:t>
            </a:r>
            <a:endParaRPr lang="en-US" sz="1100" dirty="0"/>
          </a:p>
        </p:txBody>
      </p:sp>
      <p:sp>
        <p:nvSpPr>
          <p:cNvPr id="7" name="rect-6"/>
          <p:cNvSpPr/>
          <p:nvPr/>
        </p:nvSpPr>
        <p:spPr>
          <a:xfrm>
            <a:off x="7955280" y="914400"/>
            <a:ext cx="3657600" cy="713232"/>
          </a:xfrm>
          <a:prstGeom prst="roundRect">
            <a:avLst>
              <a:gd name="adj" fmla="val 15385"/>
            </a:avLst>
          </a:prstGeom>
          <a:solidFill>
            <a:srgbClr val="2A4B75"/>
          </a:solidFill>
          <a:ln w="12700">
            <a:solidFill>
              <a:srgbClr val="2A4B75"/>
            </a:solidFill>
            <a:prstDash val="solid"/>
          </a:ln>
        </p:spPr>
      </p:sp>
      <p:sp>
        <p:nvSpPr>
          <p:cNvPr id="8" name="num-7"/>
          <p:cNvSpPr/>
          <p:nvPr/>
        </p:nvSpPr>
        <p:spPr>
          <a:xfrm>
            <a:off x="8119872" y="106984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-8"/>
          <p:cNvSpPr txBox="1"/>
          <p:nvPr/>
        </p:nvSpPr>
        <p:spPr>
          <a:xfrm>
            <a:off x="8119872" y="1069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-9"/>
          <p:cNvSpPr txBox="1"/>
          <p:nvPr/>
        </p:nvSpPr>
        <p:spPr>
          <a:xfrm>
            <a:off x="8686800" y="1033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Acoplamento</a:t>
            </a:r>
            <a:endParaRPr lang="en-US" sz="1500" dirty="0"/>
          </a:p>
        </p:txBody>
      </p:sp>
      <p:sp>
        <p:nvSpPr>
          <p:cNvPr id="11" name="text-10"/>
          <p:cNvSpPr txBox="1"/>
          <p:nvPr/>
        </p:nvSpPr>
        <p:spPr>
          <a:xfrm>
            <a:off x="8686800" y="1307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a API que dói</a:t>
            </a:r>
            <a:endParaRPr lang="en-US" sz="1150" dirty="0"/>
          </a:p>
        </p:txBody>
      </p:sp>
      <p:sp>
        <p:nvSpPr>
          <p:cNvPr id="12" name="rect-11"/>
          <p:cNvSpPr/>
          <p:nvPr/>
        </p:nvSpPr>
        <p:spPr>
          <a:xfrm>
            <a:off x="7955280" y="1737360"/>
            <a:ext cx="3657600" cy="713232"/>
          </a:xfrm>
          <a:prstGeom prst="roundRect">
            <a:avLst>
              <a:gd name="adj" fmla="val 15385"/>
            </a:avLst>
          </a:prstGeom>
          <a:solidFill>
            <a:srgbClr val="2A4B75"/>
          </a:solidFill>
          <a:ln w="12700">
            <a:solidFill>
              <a:srgbClr val="2A4B75"/>
            </a:solidFill>
            <a:prstDash val="solid"/>
          </a:ln>
        </p:spPr>
      </p:sp>
      <p:sp>
        <p:nvSpPr>
          <p:cNvPr id="13" name="num-12"/>
          <p:cNvSpPr/>
          <p:nvPr/>
        </p:nvSpPr>
        <p:spPr>
          <a:xfrm>
            <a:off x="8119872" y="189280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-13"/>
          <p:cNvSpPr txBox="1"/>
          <p:nvPr/>
        </p:nvSpPr>
        <p:spPr>
          <a:xfrm>
            <a:off x="8119872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-14"/>
          <p:cNvSpPr txBox="1"/>
          <p:nvPr/>
        </p:nvSpPr>
        <p:spPr>
          <a:xfrm>
            <a:off x="868680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Abstrações e interfaces</a:t>
            </a:r>
            <a:endParaRPr lang="en-US" sz="1500" dirty="0"/>
          </a:p>
        </p:txBody>
      </p:sp>
      <p:sp>
        <p:nvSpPr>
          <p:cNvPr id="16" name="text-15"/>
          <p:cNvSpPr txBox="1"/>
          <p:nvPr/>
        </p:nvSpPr>
        <p:spPr>
          <a:xfrm>
            <a:off x="8686800" y="2130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o quê × como</a:t>
            </a:r>
            <a:endParaRPr lang="en-US" sz="1150" dirty="0"/>
          </a:p>
        </p:txBody>
      </p:sp>
      <p:sp>
        <p:nvSpPr>
          <p:cNvPr id="17" name="rect-16"/>
          <p:cNvSpPr/>
          <p:nvPr/>
        </p:nvSpPr>
        <p:spPr>
          <a:xfrm>
            <a:off x="7955280" y="2560320"/>
            <a:ext cx="3657600" cy="713232"/>
          </a:xfrm>
          <a:prstGeom prst="roundRect">
            <a:avLst>
              <a:gd name="adj" fmla="val 15385"/>
            </a:avLst>
          </a:prstGeom>
          <a:solidFill>
            <a:srgbClr val="2A4B75"/>
          </a:solidFill>
          <a:ln w="12700">
            <a:solidFill>
              <a:srgbClr val="2A4B75"/>
            </a:solidFill>
            <a:prstDash val="solid"/>
          </a:ln>
        </p:spPr>
      </p:sp>
      <p:sp>
        <p:nvSpPr>
          <p:cNvPr id="18" name="num-17"/>
          <p:cNvSpPr/>
          <p:nvPr/>
        </p:nvSpPr>
        <p:spPr>
          <a:xfrm>
            <a:off x="8119872" y="271576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-18"/>
          <p:cNvSpPr txBox="1"/>
          <p:nvPr/>
        </p:nvSpPr>
        <p:spPr>
          <a:xfrm>
            <a:off x="8119872" y="2715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-19"/>
          <p:cNvSpPr txBox="1"/>
          <p:nvPr/>
        </p:nvSpPr>
        <p:spPr>
          <a:xfrm>
            <a:off x="8686800" y="2679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Repository</a:t>
            </a:r>
            <a:endParaRPr lang="en-US" sz="1500" dirty="0"/>
          </a:p>
        </p:txBody>
      </p:sp>
      <p:sp>
        <p:nvSpPr>
          <p:cNvPr id="21" name="text-20"/>
          <p:cNvSpPr txBox="1"/>
          <p:nvPr/>
        </p:nvSpPr>
        <p:spPr>
          <a:xfrm>
            <a:off x="8686800" y="2953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acesso a dados</a:t>
            </a:r>
            <a:endParaRPr lang="en-US" sz="1150" dirty="0"/>
          </a:p>
        </p:txBody>
      </p:sp>
      <p:sp>
        <p:nvSpPr>
          <p:cNvPr id="22" name="rect-21"/>
          <p:cNvSpPr/>
          <p:nvPr/>
        </p:nvSpPr>
        <p:spPr>
          <a:xfrm>
            <a:off x="7955280" y="3383280"/>
            <a:ext cx="3657600" cy="713232"/>
          </a:xfrm>
          <a:prstGeom prst="roundRect">
            <a:avLst>
              <a:gd name="adj" fmla="val 15385"/>
            </a:avLst>
          </a:prstGeom>
          <a:solidFill>
            <a:srgbClr val="2A4B75"/>
          </a:solidFill>
          <a:ln w="12700">
            <a:solidFill>
              <a:srgbClr val="2A4B75"/>
            </a:solidFill>
            <a:prstDash val="solid"/>
          </a:ln>
        </p:spPr>
      </p:sp>
      <p:sp>
        <p:nvSpPr>
          <p:cNvPr id="23" name="num-22"/>
          <p:cNvSpPr/>
          <p:nvPr/>
        </p:nvSpPr>
        <p:spPr>
          <a:xfrm>
            <a:off x="8119872" y="353872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-23"/>
          <p:cNvSpPr txBox="1"/>
          <p:nvPr/>
        </p:nvSpPr>
        <p:spPr>
          <a:xfrm>
            <a:off x="8119872" y="3538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-24"/>
          <p:cNvSpPr txBox="1"/>
          <p:nvPr/>
        </p:nvSpPr>
        <p:spPr>
          <a:xfrm>
            <a:off x="8686800" y="3502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Injeção de Dependência</a:t>
            </a:r>
            <a:endParaRPr lang="en-US" sz="1500" dirty="0"/>
          </a:p>
        </p:txBody>
      </p:sp>
      <p:sp>
        <p:nvSpPr>
          <p:cNvPr id="26" name="text-25"/>
          <p:cNvSpPr txBox="1"/>
          <p:nvPr/>
        </p:nvSpPr>
        <p:spPr>
          <a:xfrm>
            <a:off x="8686800" y="3776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quem conecta as peças</a:t>
            </a:r>
            <a:endParaRPr lang="en-US" sz="1150" dirty="0"/>
          </a:p>
        </p:txBody>
      </p:sp>
      <p:sp>
        <p:nvSpPr>
          <p:cNvPr id="27" name="rect-26"/>
          <p:cNvSpPr/>
          <p:nvPr/>
        </p:nvSpPr>
        <p:spPr>
          <a:xfrm>
            <a:off x="7955280" y="4206240"/>
            <a:ext cx="3657600" cy="713232"/>
          </a:xfrm>
          <a:prstGeom prst="roundRect">
            <a:avLst>
              <a:gd name="adj" fmla="val 15385"/>
            </a:avLst>
          </a:prstGeom>
          <a:solidFill>
            <a:srgbClr val="2A4B75"/>
          </a:solidFill>
          <a:ln w="12700">
            <a:solidFill>
              <a:srgbClr val="2A4B75"/>
            </a:solidFill>
            <a:prstDash val="solid"/>
          </a:ln>
        </p:spPr>
      </p:sp>
      <p:sp>
        <p:nvSpPr>
          <p:cNvPr id="28" name="num-27"/>
          <p:cNvSpPr/>
          <p:nvPr/>
        </p:nvSpPr>
        <p:spPr>
          <a:xfrm>
            <a:off x="8119872" y="436168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-28"/>
          <p:cNvSpPr txBox="1"/>
          <p:nvPr/>
        </p:nvSpPr>
        <p:spPr>
          <a:xfrm>
            <a:off x="8119872" y="4361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-29"/>
          <p:cNvSpPr txBox="1"/>
          <p:nvPr/>
        </p:nvSpPr>
        <p:spPr>
          <a:xfrm>
            <a:off x="8686800" y="4325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SOLID e DDD</a:t>
            </a:r>
            <a:endParaRPr lang="en-US" sz="1500" dirty="0"/>
          </a:p>
        </p:txBody>
      </p:sp>
      <p:sp>
        <p:nvSpPr>
          <p:cNvPr id="31" name="text-30"/>
          <p:cNvSpPr txBox="1"/>
          <p:nvPr/>
        </p:nvSpPr>
        <p:spPr>
          <a:xfrm>
            <a:off x="8686800" y="4599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princípio e modelo</a:t>
            </a:r>
            <a:endParaRPr lang="en-US" sz="1150" dirty="0"/>
          </a:p>
        </p:txBody>
      </p:sp>
      <p:sp>
        <p:nvSpPr>
          <p:cNvPr id="32" name="rect-31"/>
          <p:cNvSpPr/>
          <p:nvPr/>
        </p:nvSpPr>
        <p:spPr>
          <a:xfrm>
            <a:off x="7955280" y="5029200"/>
            <a:ext cx="3657600" cy="713232"/>
          </a:xfrm>
          <a:prstGeom prst="roundRect">
            <a:avLst>
              <a:gd name="adj" fmla="val 15385"/>
            </a:avLst>
          </a:prstGeom>
          <a:solidFill>
            <a:srgbClr val="2A4B75"/>
          </a:solidFill>
          <a:ln w="12700">
            <a:solidFill>
              <a:srgbClr val="2A4B75"/>
            </a:solidFill>
            <a:prstDash val="solid"/>
          </a:ln>
        </p:spPr>
      </p:sp>
      <p:sp>
        <p:nvSpPr>
          <p:cNvPr id="33" name="num-32"/>
          <p:cNvSpPr/>
          <p:nvPr/>
        </p:nvSpPr>
        <p:spPr>
          <a:xfrm>
            <a:off x="8119872" y="518464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-33"/>
          <p:cNvSpPr txBox="1"/>
          <p:nvPr/>
        </p:nvSpPr>
        <p:spPr>
          <a:xfrm>
            <a:off x="8119872" y="5184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6</a:t>
            </a:r>
            <a:endParaRPr lang="en-US" sz="1400" dirty="0"/>
          </a:p>
        </p:txBody>
      </p:sp>
      <p:sp>
        <p:nvSpPr>
          <p:cNvPr id="35" name="text-34"/>
          <p:cNvSpPr txBox="1"/>
          <p:nvPr/>
        </p:nvSpPr>
        <p:spPr>
          <a:xfrm>
            <a:off x="8686800" y="5148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Antes × depois e checklist</a:t>
            </a:r>
            <a:endParaRPr lang="en-US" sz="1500" dirty="0"/>
          </a:p>
        </p:txBody>
      </p:sp>
      <p:sp>
        <p:nvSpPr>
          <p:cNvPr id="36" name="text-35"/>
          <p:cNvSpPr txBox="1"/>
          <p:nvPr/>
        </p:nvSpPr>
        <p:spPr>
          <a:xfrm>
            <a:off x="8686800" y="54223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quando usar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PARTE 1 — ACOPLAMENTO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API que funciona, mas dói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O controller faz tudo: cria o banco, aplica a regra, salva e manda e-mail. Funciona. Até precisar mudar.</a:t>
            </a:r>
            <a:endParaRPr lang="en-US" sz="1600" dirty="0"/>
          </a:p>
        </p:txBody>
      </p:sp>
      <p:sp>
        <p:nvSpPr>
          <p:cNvPr id="5" name="rect-36"/>
          <p:cNvSpPr/>
          <p:nvPr/>
        </p:nvSpPr>
        <p:spPr>
          <a:xfrm>
            <a:off x="10637215" y="384048"/>
            <a:ext cx="1005840" cy="292608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37"/>
          <p:cNvSpPr txBox="1"/>
          <p:nvPr/>
        </p:nvSpPr>
        <p:spPr>
          <a:xfrm>
            <a:off x="10637215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≈ 3 min</a:t>
            </a:r>
            <a:endParaRPr lang="en-US" sz="1100" dirty="0"/>
          </a:p>
        </p:txBody>
      </p:sp>
      <p:sp>
        <p:nvSpPr>
          <p:cNvPr id="7" name="rect-38"/>
          <p:cNvSpPr/>
          <p:nvPr/>
        </p:nvSpPr>
        <p:spPr>
          <a:xfrm>
            <a:off x="548640" y="1920240"/>
            <a:ext cx="6675120" cy="4343400"/>
          </a:xfrm>
          <a:prstGeom prst="roundRect">
            <a:avLst>
              <a:gd name="adj" fmla="val 210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-39"/>
          <p:cNvSpPr txBox="1"/>
          <p:nvPr/>
        </p:nvSpPr>
        <p:spPr>
          <a:xfrm>
            <a:off x="777240" y="20391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08A86"/>
                </a:solidFill>
              </a:rPr>
              <a:t>PedidosApi.Antes — PedidosController.cs</a:t>
            </a:r>
            <a:endParaRPr lang="en-US" sz="1100" dirty="0"/>
          </a:p>
        </p:txBody>
      </p:sp>
      <p:sp>
        <p:nvSpPr>
          <p:cNvPr id="9" name="code-40"/>
          <p:cNvSpPr txBox="1"/>
          <p:nvPr/>
        </p:nvSpPr>
        <p:spPr>
          <a:xfrm>
            <a:off x="777240" y="2304288"/>
            <a:ext cx="6309360" cy="3867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ApiController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BD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"api/pedidos"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PedidosController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ControllerBase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HttpPost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BD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"{id}/confirmar"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IActionResult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Confirmar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VendasDbContext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b="1" i="1" dirty="0">
                <a:solidFill>
                  <a:srgbClr val="F08A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o controller cria o banco. Agora depende dele.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Itens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FirstOrDefault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NotFound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BD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"Confirmado"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BadRequest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Itens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0)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BadRequest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b="1" i="1" dirty="0">
                <a:solidFill>
                  <a:srgbClr val="F08A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regra de negócio solta, repetida em outros endpoints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BD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"Confirmado"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EmailService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EnviarConfirmacao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rect-41"/>
          <p:cNvSpPr/>
          <p:nvPr/>
        </p:nvSpPr>
        <p:spPr>
          <a:xfrm>
            <a:off x="7543800" y="1920240"/>
            <a:ext cx="409925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-bg-42"/>
          <p:cNvSpPr/>
          <p:nvPr/>
        </p:nvSpPr>
        <p:spPr>
          <a:xfrm>
            <a:off x="7744968" y="212140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4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4330" y="2230770"/>
            <a:ext cx="201900" cy="201900"/>
          </a:xfrm>
          <a:prstGeom prst="rect">
            <a:avLst/>
          </a:prstGeom>
        </p:spPr>
      </p:pic>
      <p:sp>
        <p:nvSpPr>
          <p:cNvPr id="13" name="text-44"/>
          <p:cNvSpPr txBox="1"/>
          <p:nvPr/>
        </p:nvSpPr>
        <p:spPr>
          <a:xfrm>
            <a:off x="8330184" y="2103120"/>
            <a:ext cx="31299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Difícil de testar</a:t>
            </a:r>
            <a:endParaRPr lang="en-US" sz="1500" dirty="0"/>
          </a:p>
        </p:txBody>
      </p:sp>
      <p:sp>
        <p:nvSpPr>
          <p:cNvPr id="14" name="text-45"/>
          <p:cNvSpPr txBox="1"/>
          <p:nvPr/>
        </p:nvSpPr>
        <p:spPr>
          <a:xfrm>
            <a:off x="8330184" y="2487168"/>
            <a:ext cx="31299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Só dá para testar subindo a API e um banco de verdade.</a:t>
            </a:r>
            <a:endParaRPr lang="en-US" sz="1300" dirty="0"/>
          </a:p>
        </p:txBody>
      </p:sp>
      <p:sp>
        <p:nvSpPr>
          <p:cNvPr id="15" name="rect-46"/>
          <p:cNvSpPr/>
          <p:nvPr/>
        </p:nvSpPr>
        <p:spPr>
          <a:xfrm>
            <a:off x="7543800" y="3429000"/>
            <a:ext cx="409925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-bg-47"/>
          <p:cNvSpPr/>
          <p:nvPr/>
        </p:nvSpPr>
        <p:spPr>
          <a:xfrm>
            <a:off x="7744968" y="363016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con-4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330" y="3739530"/>
            <a:ext cx="201900" cy="201900"/>
          </a:xfrm>
          <a:prstGeom prst="rect">
            <a:avLst/>
          </a:prstGeom>
        </p:spPr>
      </p:pic>
      <p:sp>
        <p:nvSpPr>
          <p:cNvPr id="18" name="text-49"/>
          <p:cNvSpPr txBox="1"/>
          <p:nvPr/>
        </p:nvSpPr>
        <p:spPr>
          <a:xfrm>
            <a:off x="8330184" y="3611880"/>
            <a:ext cx="31299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Difícil de trocar</a:t>
            </a:r>
            <a:endParaRPr lang="en-US" sz="1500" dirty="0"/>
          </a:p>
        </p:txBody>
      </p:sp>
      <p:sp>
        <p:nvSpPr>
          <p:cNvPr id="19" name="text-50"/>
          <p:cNvSpPr txBox="1"/>
          <p:nvPr/>
        </p:nvSpPr>
        <p:spPr>
          <a:xfrm>
            <a:off x="8330184" y="3995928"/>
            <a:ext cx="31299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Trocar o banco ou o envio de e-mail exige reescrever o controller.</a:t>
            </a:r>
            <a:endParaRPr lang="en-US" sz="1300" dirty="0"/>
          </a:p>
        </p:txBody>
      </p:sp>
      <p:sp>
        <p:nvSpPr>
          <p:cNvPr id="20" name="rect-51"/>
          <p:cNvSpPr/>
          <p:nvPr/>
        </p:nvSpPr>
        <p:spPr>
          <a:xfrm>
            <a:off x="7543800" y="4937760"/>
            <a:ext cx="409925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con-bg-52"/>
          <p:cNvSpPr/>
          <p:nvPr/>
        </p:nvSpPr>
        <p:spPr>
          <a:xfrm>
            <a:off x="7744968" y="513892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2" name="icon-5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330" y="5248290"/>
            <a:ext cx="201900" cy="201900"/>
          </a:xfrm>
          <a:prstGeom prst="rect">
            <a:avLst/>
          </a:prstGeom>
        </p:spPr>
      </p:pic>
      <p:sp>
        <p:nvSpPr>
          <p:cNvPr id="23" name="text-54"/>
          <p:cNvSpPr txBox="1"/>
          <p:nvPr/>
        </p:nvSpPr>
        <p:spPr>
          <a:xfrm>
            <a:off x="8330184" y="5120640"/>
            <a:ext cx="31299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Difícil de evoluir</a:t>
            </a:r>
            <a:endParaRPr lang="en-US" sz="1500" dirty="0"/>
          </a:p>
        </p:txBody>
      </p:sp>
      <p:sp>
        <p:nvSpPr>
          <p:cNvPr id="24" name="text-55"/>
          <p:cNvSpPr txBox="1"/>
          <p:nvPr/>
        </p:nvSpPr>
        <p:spPr>
          <a:xfrm>
            <a:off x="8330184" y="5504688"/>
            <a:ext cx="31299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“Pedido sem item não confirma” se repete em cada endpoint.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PARTE 2 — ABSTRAÇÕES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Separar o quê do como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Abstração é dizer o que a aplicação precisa, sem dizer como isso será feito.</a:t>
            </a:r>
            <a:endParaRPr lang="en-US" sz="1600" dirty="0"/>
          </a:p>
        </p:txBody>
      </p:sp>
      <p:sp>
        <p:nvSpPr>
          <p:cNvPr id="5" name="rect-56"/>
          <p:cNvSpPr/>
          <p:nvPr/>
        </p:nvSpPr>
        <p:spPr>
          <a:xfrm>
            <a:off x="10637215" y="384048"/>
            <a:ext cx="1005840" cy="292608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57"/>
          <p:cNvSpPr txBox="1"/>
          <p:nvPr/>
        </p:nvSpPr>
        <p:spPr>
          <a:xfrm>
            <a:off x="10637215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≈ 2 min</a:t>
            </a:r>
            <a:endParaRPr lang="en-US" sz="1100" dirty="0"/>
          </a:p>
        </p:txBody>
      </p:sp>
      <p:sp>
        <p:nvSpPr>
          <p:cNvPr id="7" name="rect-58"/>
          <p:cNvSpPr/>
          <p:nvPr/>
        </p:nvSpPr>
        <p:spPr>
          <a:xfrm>
            <a:off x="548640" y="1965960"/>
            <a:ext cx="5410048" cy="187452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-59"/>
          <p:cNvSpPr txBox="1"/>
          <p:nvPr/>
        </p:nvSpPr>
        <p:spPr>
          <a:xfrm>
            <a:off x="822960" y="2167128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 QUÊ a aplicação precisa</a:t>
            </a:r>
            <a:endParaRPr lang="en-US" sz="1600" dirty="0"/>
          </a:p>
        </p:txBody>
      </p:sp>
      <p:sp>
        <p:nvSpPr>
          <p:cNvPr id="9" name="text-60"/>
          <p:cNvSpPr txBox="1"/>
          <p:nvPr/>
        </p:nvSpPr>
        <p:spPr>
          <a:xfrm>
            <a:off x="822960" y="260604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Buscar um pedido pelo Id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Guardar um pedido novo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Salvar as alterações</a:t>
            </a:r>
            <a:endParaRPr lang="en-US" sz="1500" dirty="0"/>
          </a:p>
        </p:txBody>
      </p:sp>
      <p:sp>
        <p:nvSpPr>
          <p:cNvPr id="10" name="text-61"/>
          <p:cNvSpPr txBox="1"/>
          <p:nvPr/>
        </p:nvSpPr>
        <p:spPr>
          <a:xfrm>
            <a:off x="4769968" y="2167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estável</a:t>
            </a:r>
            <a:endParaRPr lang="en-US" sz="1100" dirty="0"/>
          </a:p>
        </p:txBody>
      </p:sp>
      <p:sp>
        <p:nvSpPr>
          <p:cNvPr id="11" name="rect-62"/>
          <p:cNvSpPr/>
          <p:nvPr/>
        </p:nvSpPr>
        <p:spPr>
          <a:xfrm>
            <a:off x="6233008" y="1965960"/>
            <a:ext cx="5410048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-63"/>
          <p:cNvSpPr txBox="1"/>
          <p:nvPr/>
        </p:nvSpPr>
        <p:spPr>
          <a:xfrm>
            <a:off x="6507328" y="2167128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COMO isso é feito</a:t>
            </a:r>
            <a:endParaRPr lang="en-US" sz="1600" dirty="0"/>
          </a:p>
        </p:txBody>
      </p:sp>
      <p:sp>
        <p:nvSpPr>
          <p:cNvPr id="13" name="text-64"/>
          <p:cNvSpPr txBox="1"/>
          <p:nvPr/>
        </p:nvSpPr>
        <p:spPr>
          <a:xfrm>
            <a:off x="6507328" y="260604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SQL Server via Entity Framework Core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Uma lista em memória nos testes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Uma API externa de pedidos</a:t>
            </a:r>
            <a:endParaRPr lang="en-US" sz="1500" dirty="0"/>
          </a:p>
        </p:txBody>
      </p:sp>
      <p:sp>
        <p:nvSpPr>
          <p:cNvPr id="14" name="text-65"/>
          <p:cNvSpPr txBox="1"/>
          <p:nvPr/>
        </p:nvSpPr>
        <p:spPr>
          <a:xfrm>
            <a:off x="10271455" y="21671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pode mudar</a:t>
            </a:r>
            <a:endParaRPr lang="en-US" sz="1100" dirty="0"/>
          </a:p>
        </p:txBody>
      </p:sp>
      <p:sp>
        <p:nvSpPr>
          <p:cNvPr id="15" name="rect-66"/>
          <p:cNvSpPr/>
          <p:nvPr/>
        </p:nvSpPr>
        <p:spPr>
          <a:xfrm>
            <a:off x="822960" y="4343400"/>
            <a:ext cx="2834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ode-67"/>
          <p:cNvSpPr txBox="1"/>
          <p:nvPr/>
        </p:nvSpPr>
        <p:spPr>
          <a:xfrm>
            <a:off x="822960" y="4343400"/>
            <a:ext cx="28346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PedidoService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código de aplicação</a:t>
            </a:r>
            <a:endParaRPr lang="en-US" sz="1400" dirty="0"/>
          </a:p>
        </p:txBody>
      </p:sp>
      <p:sp>
        <p:nvSpPr>
          <p:cNvPr id="17" name="rect-68"/>
          <p:cNvSpPr/>
          <p:nvPr/>
        </p:nvSpPr>
        <p:spPr>
          <a:xfrm>
            <a:off x="4678528" y="4343400"/>
            <a:ext cx="283464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ode-69"/>
          <p:cNvSpPr txBox="1"/>
          <p:nvPr/>
        </p:nvSpPr>
        <p:spPr>
          <a:xfrm>
            <a:off x="4678528" y="4343400"/>
            <a:ext cx="28346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IPedidoRepository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abstração · o contrato</a:t>
            </a:r>
            <a:endParaRPr lang="en-US" sz="1400" dirty="0"/>
          </a:p>
        </p:txBody>
      </p:sp>
      <p:sp>
        <p:nvSpPr>
          <p:cNvPr id="19" name="rect-70"/>
          <p:cNvSpPr/>
          <p:nvPr/>
        </p:nvSpPr>
        <p:spPr>
          <a:xfrm>
            <a:off x="8534095" y="4343400"/>
            <a:ext cx="2834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ode-71"/>
          <p:cNvSpPr txBox="1"/>
          <p:nvPr/>
        </p:nvSpPr>
        <p:spPr>
          <a:xfrm>
            <a:off x="8534095" y="4343400"/>
            <a:ext cx="28346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EfPedidoRepository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implementação concreta</a:t>
            </a:r>
            <a:endParaRPr lang="en-US" sz="1400" dirty="0"/>
          </a:p>
        </p:txBody>
      </p:sp>
      <p:sp>
        <p:nvSpPr>
          <p:cNvPr id="21" name="arrow-72"/>
          <p:cNvSpPr/>
          <p:nvPr/>
        </p:nvSpPr>
        <p:spPr>
          <a:xfrm>
            <a:off x="3703320" y="4777740"/>
            <a:ext cx="929488" cy="0"/>
          </a:xfrm>
          <a:prstGeom prst="line">
            <a:avLst/>
          </a:prstGeom>
          <a:noFill/>
          <a:ln w="28575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22" name="arrow-73"/>
          <p:cNvSpPr/>
          <p:nvPr/>
        </p:nvSpPr>
        <p:spPr>
          <a:xfrm flipH="1">
            <a:off x="7558888" y="4777740"/>
            <a:ext cx="929488" cy="0"/>
          </a:xfrm>
          <a:prstGeom prst="line">
            <a:avLst/>
          </a:prstGeom>
          <a:noFill/>
          <a:ln w="28575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23" name="text-74"/>
          <p:cNvSpPr txBox="1"/>
          <p:nvPr/>
        </p:nvSpPr>
        <p:spPr>
          <a:xfrm>
            <a:off x="3657600" y="4457700"/>
            <a:ext cx="1020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usa</a:t>
            </a:r>
            <a:endParaRPr lang="en-US" sz="1200" dirty="0"/>
          </a:p>
        </p:txBody>
      </p:sp>
      <p:sp>
        <p:nvSpPr>
          <p:cNvPr id="24" name="text-75"/>
          <p:cNvSpPr txBox="1"/>
          <p:nvPr/>
        </p:nvSpPr>
        <p:spPr>
          <a:xfrm>
            <a:off x="7513168" y="4457700"/>
            <a:ext cx="1020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implementa</a:t>
            </a:r>
            <a:endParaRPr lang="en-US" sz="1200" dirty="0"/>
          </a:p>
        </p:txBody>
      </p:sp>
      <p:sp>
        <p:nvSpPr>
          <p:cNvPr id="25" name="text-76"/>
          <p:cNvSpPr txBox="1"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Os dois lados apontam para o contrato. A aplicação nunca conhece a implementação.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PARTE 2 — INTERFACES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Interface é o contrato, não a solução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A interface descreve as operações. O serviço depende dela, e não de quem a implementa.</a:t>
            </a:r>
            <a:endParaRPr lang="en-US" sz="1600" dirty="0"/>
          </a:p>
        </p:txBody>
      </p:sp>
      <p:sp>
        <p:nvSpPr>
          <p:cNvPr id="5" name="rect-77"/>
          <p:cNvSpPr/>
          <p:nvPr/>
        </p:nvSpPr>
        <p:spPr>
          <a:xfrm>
            <a:off x="10637215" y="384048"/>
            <a:ext cx="1005840" cy="292608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78"/>
          <p:cNvSpPr txBox="1"/>
          <p:nvPr/>
        </p:nvSpPr>
        <p:spPr>
          <a:xfrm>
            <a:off x="10637215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≈ 2.5 min</a:t>
            </a:r>
            <a:endParaRPr lang="en-US" sz="1100" dirty="0"/>
          </a:p>
        </p:txBody>
      </p:sp>
      <p:sp>
        <p:nvSpPr>
          <p:cNvPr id="7" name="rect-79"/>
          <p:cNvSpPr/>
          <p:nvPr/>
        </p:nvSpPr>
        <p:spPr>
          <a:xfrm>
            <a:off x="548640" y="1965960"/>
            <a:ext cx="6309360" cy="4206240"/>
          </a:xfrm>
          <a:prstGeom prst="roundRect">
            <a:avLst>
              <a:gd name="adj" fmla="val 217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-80"/>
          <p:cNvSpPr txBox="1"/>
          <p:nvPr/>
        </p:nvSpPr>
        <p:spPr>
          <a:xfrm>
            <a:off x="777240" y="20848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8794"/>
                </a:solidFill>
              </a:rPr>
              <a:t>IPedidoRepository.cs · PedidoService.cs</a:t>
            </a:r>
            <a:endParaRPr lang="en-US" sz="1100" dirty="0"/>
          </a:p>
        </p:txBody>
      </p:sp>
      <p:sp>
        <p:nvSpPr>
          <p:cNvPr id="9" name="code-81"/>
          <p:cNvSpPr txBox="1"/>
          <p:nvPr/>
        </p:nvSpPr>
        <p:spPr>
          <a:xfrm>
            <a:off x="777240" y="2350008"/>
            <a:ext cx="5943600" cy="373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IPedidoRepository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ObterPorIdAsync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AdicionarAsync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SalvarAsync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PedidoService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readonly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IPedidoRepository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_repo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PedidoService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IPedidoRepository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_repo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b="1" i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o serviço só conhece o contrato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rect-82"/>
          <p:cNvSpPr/>
          <p:nvPr/>
        </p:nvSpPr>
        <p:spPr>
          <a:xfrm>
            <a:off x="7178040" y="1965960"/>
            <a:ext cx="4465015" cy="1261872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-bg-83"/>
          <p:cNvSpPr/>
          <p:nvPr/>
        </p:nvSpPr>
        <p:spPr>
          <a:xfrm>
            <a:off x="7379208" y="2167128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2" name="icon-8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8570" y="2276490"/>
            <a:ext cx="201900" cy="201900"/>
          </a:xfrm>
          <a:prstGeom prst="rect">
            <a:avLst/>
          </a:prstGeom>
        </p:spPr>
      </p:pic>
      <p:sp>
        <p:nvSpPr>
          <p:cNvPr id="13" name="text-85"/>
          <p:cNvSpPr txBox="1"/>
          <p:nvPr/>
        </p:nvSpPr>
        <p:spPr>
          <a:xfrm>
            <a:off x="7964424" y="2148840"/>
            <a:ext cx="34957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Contrato</a:t>
            </a:r>
            <a:endParaRPr lang="en-US" sz="1500" dirty="0"/>
          </a:p>
        </p:txBody>
      </p:sp>
      <p:sp>
        <p:nvSpPr>
          <p:cNvPr id="14" name="text-86"/>
          <p:cNvSpPr txBox="1"/>
          <p:nvPr/>
        </p:nvSpPr>
        <p:spPr>
          <a:xfrm>
            <a:off x="7964424" y="2532888"/>
            <a:ext cx="349575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Só as operações que o domínio precisa, com nomes do negócio.</a:t>
            </a:r>
            <a:endParaRPr lang="en-US" sz="1300" dirty="0"/>
          </a:p>
        </p:txBody>
      </p:sp>
      <p:sp>
        <p:nvSpPr>
          <p:cNvPr id="15" name="rect-87"/>
          <p:cNvSpPr/>
          <p:nvPr/>
        </p:nvSpPr>
        <p:spPr>
          <a:xfrm>
            <a:off x="7178040" y="3392424"/>
            <a:ext cx="4465015" cy="1261872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-bg-88"/>
          <p:cNvSpPr/>
          <p:nvPr/>
        </p:nvSpPr>
        <p:spPr>
          <a:xfrm>
            <a:off x="7379208" y="3593592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8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570" y="3702954"/>
            <a:ext cx="201900" cy="201900"/>
          </a:xfrm>
          <a:prstGeom prst="rect">
            <a:avLst/>
          </a:prstGeom>
        </p:spPr>
      </p:pic>
      <p:sp>
        <p:nvSpPr>
          <p:cNvPr id="18" name="text-90"/>
          <p:cNvSpPr txBox="1"/>
          <p:nvPr/>
        </p:nvSpPr>
        <p:spPr>
          <a:xfrm>
            <a:off x="7964424" y="3575304"/>
            <a:ext cx="34957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Implementação</a:t>
            </a:r>
            <a:endParaRPr lang="en-US" sz="1500" dirty="0"/>
          </a:p>
        </p:txBody>
      </p:sp>
      <p:sp>
        <p:nvSpPr>
          <p:cNvPr id="19" name="text-91"/>
          <p:cNvSpPr txBox="1"/>
          <p:nvPr/>
        </p:nvSpPr>
        <p:spPr>
          <a:xfrm>
            <a:off x="7964424" y="3959352"/>
            <a:ext cx="349575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EF Core, SQL ou memória. Detalhe de infraestrutura.</a:t>
            </a:r>
            <a:endParaRPr lang="en-US" sz="1300" dirty="0"/>
          </a:p>
        </p:txBody>
      </p:sp>
      <p:sp>
        <p:nvSpPr>
          <p:cNvPr id="20" name="rect-92"/>
          <p:cNvSpPr/>
          <p:nvPr/>
        </p:nvSpPr>
        <p:spPr>
          <a:xfrm>
            <a:off x="7178040" y="4818888"/>
            <a:ext cx="4465015" cy="1261872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con-bg-93"/>
          <p:cNvSpPr/>
          <p:nvPr/>
        </p:nvSpPr>
        <p:spPr>
          <a:xfrm>
            <a:off x="7379208" y="50200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con-9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570" y="5129418"/>
            <a:ext cx="201900" cy="201900"/>
          </a:xfrm>
          <a:prstGeom prst="rect">
            <a:avLst/>
          </a:prstGeom>
        </p:spPr>
      </p:pic>
      <p:sp>
        <p:nvSpPr>
          <p:cNvPr id="23" name="text-95"/>
          <p:cNvSpPr txBox="1"/>
          <p:nvPr/>
        </p:nvSpPr>
        <p:spPr>
          <a:xfrm>
            <a:off x="7964424" y="5001768"/>
            <a:ext cx="34957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Nem toda abstração é interface</a:t>
            </a:r>
            <a:endParaRPr lang="en-US" sz="1500" dirty="0"/>
          </a:p>
        </p:txBody>
      </p:sp>
      <p:sp>
        <p:nvSpPr>
          <p:cNvPr id="24" name="text-96"/>
          <p:cNvSpPr txBox="1"/>
          <p:nvPr/>
        </p:nvSpPr>
        <p:spPr>
          <a:xfrm>
            <a:off x="7964424" y="5385816"/>
            <a:ext cx="349575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Classe abstrata, delegate (Func&lt;&gt;) ou um record também abstraem.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PARTE 3 — REPOSITORY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 repositório fala a língua do domínio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Para a aplicação, é uma coleção de pedidos. Tabelas, SQL e EF Core ficam escondidos na implementação.</a:t>
            </a:r>
            <a:endParaRPr lang="en-US" sz="1600" dirty="0"/>
          </a:p>
        </p:txBody>
      </p:sp>
      <p:sp>
        <p:nvSpPr>
          <p:cNvPr id="5" name="rect-97"/>
          <p:cNvSpPr/>
          <p:nvPr/>
        </p:nvSpPr>
        <p:spPr>
          <a:xfrm>
            <a:off x="10637215" y="384048"/>
            <a:ext cx="1005840" cy="292608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98"/>
          <p:cNvSpPr txBox="1"/>
          <p:nvPr/>
        </p:nvSpPr>
        <p:spPr>
          <a:xfrm>
            <a:off x="10637215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≈ 3 min</a:t>
            </a:r>
            <a:endParaRPr lang="en-US" sz="1100" dirty="0"/>
          </a:p>
        </p:txBody>
      </p:sp>
      <p:sp>
        <p:nvSpPr>
          <p:cNvPr id="7" name="rect-99"/>
          <p:cNvSpPr/>
          <p:nvPr/>
        </p:nvSpPr>
        <p:spPr>
          <a:xfrm>
            <a:off x="548640" y="1965960"/>
            <a:ext cx="5410048" cy="3749040"/>
          </a:xfrm>
          <a:prstGeom prst="roundRect">
            <a:avLst>
              <a:gd name="adj" fmla="val 243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-100"/>
          <p:cNvSpPr txBox="1"/>
          <p:nvPr/>
        </p:nvSpPr>
        <p:spPr>
          <a:xfrm>
            <a:off x="777240" y="2084832"/>
            <a:ext cx="495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B3E6"/>
                </a:solidFill>
              </a:rPr>
              <a:t>IMPLEMENTAÇÃO · infraestrutura (EF Core)</a:t>
            </a:r>
            <a:endParaRPr lang="en-US" sz="1100" dirty="0"/>
          </a:p>
        </p:txBody>
      </p:sp>
      <p:sp>
        <p:nvSpPr>
          <p:cNvPr id="9" name="code-101"/>
          <p:cNvSpPr txBox="1"/>
          <p:nvPr/>
        </p:nvSpPr>
        <p:spPr>
          <a:xfrm>
            <a:off x="777240" y="2350008"/>
            <a:ext cx="5044288" cy="3273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EfPedidoRepository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IPedidoRepository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readonly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VendasDbContext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_db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EfPedidoRepository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VendasDbContext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_db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ObterPorIdAsync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=&gt;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_db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Itens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FirstOrDefaultAsync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AdicionarAsync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=&gt;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_db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AddAsync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SalvarAsync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=&gt;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_db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SaveChangesAsync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rect-102"/>
          <p:cNvSpPr/>
          <p:nvPr/>
        </p:nvSpPr>
        <p:spPr>
          <a:xfrm>
            <a:off x="6233008" y="1965960"/>
            <a:ext cx="5410048" cy="3749040"/>
          </a:xfrm>
          <a:prstGeom prst="roundRect">
            <a:avLst>
              <a:gd name="adj" fmla="val 243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-103"/>
          <p:cNvSpPr txBox="1"/>
          <p:nvPr/>
        </p:nvSpPr>
        <p:spPr>
          <a:xfrm>
            <a:off x="6461608" y="2084832"/>
            <a:ext cx="495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D3A7"/>
                </a:solidFill>
              </a:rPr>
              <a:t>USO · código de aplicação</a:t>
            </a:r>
            <a:endParaRPr lang="en-US" sz="1100" dirty="0"/>
          </a:p>
        </p:txBody>
      </p:sp>
      <p:sp>
        <p:nvSpPr>
          <p:cNvPr id="12" name="code-104"/>
          <p:cNvSpPr txBox="1"/>
          <p:nvPr/>
        </p:nvSpPr>
        <p:spPr>
          <a:xfrm>
            <a:off x="6461608" y="2350008"/>
            <a:ext cx="5044288" cy="3273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PedidoService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readonly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IPedidoRepository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_repo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PedidoService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IPedidoRepository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_repo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ConfirmarAsync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_repo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ObterPorIdAsync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??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InvalidOperationException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BD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"Pedido não encontrado."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Confirmar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b="1" i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nenhuma linha de SQL ou EF aqui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_repo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SalvarAsync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text-105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A aplicação pede “um pedido”. Quem sabe de tabelas, joins e SaveChanges é a implementação.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PARTE 3 — LIMITES DO PADRÃO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Repository: só quando protege uma fronteira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Quatro alertas antes de criar mais um repositório.</a:t>
            </a:r>
            <a:endParaRPr lang="en-US" sz="1600" dirty="0"/>
          </a:p>
        </p:txBody>
      </p:sp>
      <p:sp>
        <p:nvSpPr>
          <p:cNvPr id="5" name="rect-106"/>
          <p:cNvSpPr/>
          <p:nvPr/>
        </p:nvSpPr>
        <p:spPr>
          <a:xfrm>
            <a:off x="10637215" y="384048"/>
            <a:ext cx="1005840" cy="292608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107"/>
          <p:cNvSpPr txBox="1"/>
          <p:nvPr/>
        </p:nvSpPr>
        <p:spPr>
          <a:xfrm>
            <a:off x="10637215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≈ 2 min</a:t>
            </a:r>
            <a:endParaRPr lang="en-US" sz="1100" dirty="0"/>
          </a:p>
        </p:txBody>
      </p:sp>
      <p:sp>
        <p:nvSpPr>
          <p:cNvPr id="7" name="rect-108"/>
          <p:cNvSpPr/>
          <p:nvPr/>
        </p:nvSpPr>
        <p:spPr>
          <a:xfrm>
            <a:off x="548640" y="1965960"/>
            <a:ext cx="5410048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con-bg-109"/>
          <p:cNvSpPr/>
          <p:nvPr/>
        </p:nvSpPr>
        <p:spPr>
          <a:xfrm>
            <a:off x="749808" y="21671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-11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170" y="2276490"/>
            <a:ext cx="201900" cy="201900"/>
          </a:xfrm>
          <a:prstGeom prst="rect">
            <a:avLst/>
          </a:prstGeom>
        </p:spPr>
      </p:pic>
      <p:sp>
        <p:nvSpPr>
          <p:cNvPr id="10" name="text-111"/>
          <p:cNvSpPr txBox="1"/>
          <p:nvPr/>
        </p:nvSpPr>
        <p:spPr>
          <a:xfrm>
            <a:off x="1335024" y="2148840"/>
            <a:ext cx="444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Não é um CRUD genérico</a:t>
            </a:r>
            <a:endParaRPr lang="en-US" sz="1500" dirty="0"/>
          </a:p>
        </p:txBody>
      </p:sp>
      <p:sp>
        <p:nvSpPr>
          <p:cNvPr id="11" name="text-112"/>
          <p:cNvSpPr txBox="1"/>
          <p:nvPr/>
        </p:nvSpPr>
        <p:spPr>
          <a:xfrm>
            <a:off x="1335024" y="2532888"/>
            <a:ext cx="444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IRepository&lt;T&gt; com cinco métodos não representa o domínio. Representa o ORM.</a:t>
            </a:r>
            <a:endParaRPr lang="en-US" sz="1300" dirty="0"/>
          </a:p>
        </p:txBody>
      </p:sp>
      <p:sp>
        <p:nvSpPr>
          <p:cNvPr id="12" name="rect-113"/>
          <p:cNvSpPr/>
          <p:nvPr/>
        </p:nvSpPr>
        <p:spPr>
          <a:xfrm>
            <a:off x="6233008" y="1965960"/>
            <a:ext cx="5410048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icon-bg-114"/>
          <p:cNvSpPr/>
          <p:nvPr/>
        </p:nvSpPr>
        <p:spPr>
          <a:xfrm>
            <a:off x="6434176" y="21671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-11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538" y="2276490"/>
            <a:ext cx="201900" cy="201900"/>
          </a:xfrm>
          <a:prstGeom prst="rect">
            <a:avLst/>
          </a:prstGeom>
        </p:spPr>
      </p:pic>
      <p:sp>
        <p:nvSpPr>
          <p:cNvPr id="15" name="text-116"/>
          <p:cNvSpPr txBox="1"/>
          <p:nvPr/>
        </p:nvSpPr>
        <p:spPr>
          <a:xfrm>
            <a:off x="7019392" y="2148840"/>
            <a:ext cx="444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Não é um por entidade</a:t>
            </a:r>
            <a:endParaRPr lang="en-US" sz="1500" dirty="0"/>
          </a:p>
        </p:txBody>
      </p:sp>
      <p:sp>
        <p:nvSpPr>
          <p:cNvPr id="16" name="text-117"/>
          <p:cNvSpPr txBox="1"/>
          <p:nvPr/>
        </p:nvSpPr>
        <p:spPr>
          <a:xfrm>
            <a:off x="7019392" y="2532888"/>
            <a:ext cx="444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Crie só onde a aplicação precisa de uma coleção de verdade.</a:t>
            </a:r>
            <a:endParaRPr lang="en-US" sz="1300" dirty="0"/>
          </a:p>
        </p:txBody>
      </p:sp>
      <p:sp>
        <p:nvSpPr>
          <p:cNvPr id="17" name="rect-118"/>
          <p:cNvSpPr/>
          <p:nvPr/>
        </p:nvSpPr>
        <p:spPr>
          <a:xfrm>
            <a:off x="548640" y="3566160"/>
            <a:ext cx="5410048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icon-bg-119"/>
          <p:cNvSpPr/>
          <p:nvPr/>
        </p:nvSpPr>
        <p:spPr>
          <a:xfrm>
            <a:off x="749808" y="37673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-12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70" y="3876690"/>
            <a:ext cx="201900" cy="201900"/>
          </a:xfrm>
          <a:prstGeom prst="rect">
            <a:avLst/>
          </a:prstGeom>
        </p:spPr>
      </p:pic>
      <p:sp>
        <p:nvSpPr>
          <p:cNvPr id="20" name="text-121"/>
          <p:cNvSpPr txBox="1"/>
          <p:nvPr/>
        </p:nvSpPr>
        <p:spPr>
          <a:xfrm>
            <a:off x="1335024" y="3749040"/>
            <a:ext cx="444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Em DDD: um por raiz de agregado</a:t>
            </a:r>
            <a:endParaRPr lang="en-US" sz="1500" dirty="0"/>
          </a:p>
        </p:txBody>
      </p:sp>
      <p:sp>
        <p:nvSpPr>
          <p:cNvPr id="21" name="text-122"/>
          <p:cNvSpPr txBox="1"/>
          <p:nvPr/>
        </p:nvSpPr>
        <p:spPr>
          <a:xfrm>
            <a:off x="1335024" y="4133088"/>
            <a:ext cx="444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Pedido tem repositório. ItemPedido não: ele vive dentro do pedido.</a:t>
            </a:r>
            <a:endParaRPr lang="en-US" sz="1300" dirty="0"/>
          </a:p>
        </p:txBody>
      </p:sp>
      <p:sp>
        <p:nvSpPr>
          <p:cNvPr id="22" name="rect-123"/>
          <p:cNvSpPr/>
          <p:nvPr/>
        </p:nvSpPr>
        <p:spPr>
          <a:xfrm>
            <a:off x="6233008" y="3566160"/>
            <a:ext cx="5410048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on-bg-124"/>
          <p:cNvSpPr/>
          <p:nvPr/>
        </p:nvSpPr>
        <p:spPr>
          <a:xfrm>
            <a:off x="6434176" y="37673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-12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538" y="3876690"/>
            <a:ext cx="201900" cy="201900"/>
          </a:xfrm>
          <a:prstGeom prst="rect">
            <a:avLst/>
          </a:prstGeom>
        </p:spPr>
      </p:pic>
      <p:sp>
        <p:nvSpPr>
          <p:cNvPr id="25" name="text-126"/>
          <p:cNvSpPr txBox="1"/>
          <p:nvPr/>
        </p:nvSpPr>
        <p:spPr>
          <a:xfrm>
            <a:off x="7019392" y="3749040"/>
            <a:ext cx="444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Sobre EF Core, precisa de motivo</a:t>
            </a:r>
            <a:endParaRPr lang="en-US" sz="1500" dirty="0"/>
          </a:p>
        </p:txBody>
      </p:sp>
      <p:sp>
        <p:nvSpPr>
          <p:cNvPr id="26" name="text-127"/>
          <p:cNvSpPr txBox="1"/>
          <p:nvPr/>
        </p:nvSpPr>
        <p:spPr>
          <a:xfrm>
            <a:off x="7019392" y="4133088"/>
            <a:ext cx="444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DbContext já é Unit of Work. DbSet já se comporta como coleção.</a:t>
            </a:r>
            <a:endParaRPr lang="en-US" sz="1300" dirty="0"/>
          </a:p>
        </p:txBody>
      </p:sp>
      <p:sp>
        <p:nvSpPr>
          <p:cNvPr id="27" name="rect-128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icon-bg-129"/>
          <p:cNvSpPr/>
          <p:nvPr/>
        </p:nvSpPr>
        <p:spPr>
          <a:xfrm>
            <a:off x="777240" y="534466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9" name="icon-13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602" y="5454030"/>
            <a:ext cx="201900" cy="201900"/>
          </a:xfrm>
          <a:prstGeom prst="rect">
            <a:avLst/>
          </a:prstGeom>
        </p:spPr>
      </p:pic>
      <p:sp>
        <p:nvSpPr>
          <p:cNvPr id="30" name="text-131"/>
          <p:cNvSpPr txBox="1"/>
          <p:nvPr/>
        </p:nvSpPr>
        <p:spPr>
          <a:xfrm>
            <a:off x="1371600" y="5248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Faz sentido quando</a:t>
            </a:r>
            <a:endParaRPr lang="en-US" sz="1400" dirty="0"/>
          </a:p>
        </p:txBody>
      </p:sp>
      <p:sp>
        <p:nvSpPr>
          <p:cNvPr id="31" name="text-132"/>
          <p:cNvSpPr txBox="1"/>
          <p:nvPr/>
        </p:nvSpPr>
        <p:spPr>
          <a:xfrm>
            <a:off x="1371600" y="5550408"/>
            <a:ext cx="10088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proteger um agregado  ·  esconder consultas complexas  ·  testar sem banco  ·  trocar a persistência de verdade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PARTE 4 — INJEÇÃO DE DEPENDÊNCIA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DIP é o princípio. DI é a técnica.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O serviço recebe a abstração pelo construtor. O contêiner do .NET entrega a implementação.</a:t>
            </a:r>
            <a:endParaRPr lang="en-US" sz="1600" dirty="0"/>
          </a:p>
        </p:txBody>
      </p:sp>
      <p:sp>
        <p:nvSpPr>
          <p:cNvPr id="5" name="rect-133"/>
          <p:cNvSpPr/>
          <p:nvPr/>
        </p:nvSpPr>
        <p:spPr>
          <a:xfrm>
            <a:off x="10637215" y="384048"/>
            <a:ext cx="1005840" cy="292608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134"/>
          <p:cNvSpPr txBox="1"/>
          <p:nvPr/>
        </p:nvSpPr>
        <p:spPr>
          <a:xfrm>
            <a:off x="10637215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≈ 2.5 min</a:t>
            </a:r>
            <a:endParaRPr lang="en-US" sz="1100" dirty="0"/>
          </a:p>
        </p:txBody>
      </p:sp>
      <p:sp>
        <p:nvSpPr>
          <p:cNvPr id="7" name="rect-135"/>
          <p:cNvSpPr/>
          <p:nvPr/>
        </p:nvSpPr>
        <p:spPr>
          <a:xfrm>
            <a:off x="548640" y="1965960"/>
            <a:ext cx="6400800" cy="3017520"/>
          </a:xfrm>
          <a:prstGeom prst="roundRect">
            <a:avLst>
              <a:gd name="adj" fmla="val 303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-136"/>
          <p:cNvSpPr txBox="1"/>
          <p:nvPr/>
        </p:nvSpPr>
        <p:spPr>
          <a:xfrm>
            <a:off x="777240" y="20848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8794"/>
                </a:solidFill>
              </a:rPr>
              <a:t>Program.cs — composição da aplicação</a:t>
            </a:r>
            <a:endParaRPr lang="en-US" sz="1100" dirty="0"/>
          </a:p>
        </p:txBody>
      </p:sp>
      <p:sp>
        <p:nvSpPr>
          <p:cNvPr id="9" name="code-137"/>
          <p:cNvSpPr txBox="1"/>
          <p:nvPr/>
        </p:nvSpPr>
        <p:spPr>
          <a:xfrm>
            <a:off x="777240" y="2350008"/>
            <a:ext cx="6035040" cy="2542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WebApplication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CreateBuilder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AddDbContext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VendasDbContext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UseSqlServer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connectionString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AddScoped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IPedidoRepository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EfPedidoRepository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b="1" i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"quando pedirem IPedidoRepository, entregue EfPedidoRepository"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AddScoped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PedidoService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&gt;();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50" dirty="0"/>
          </a:p>
        </p:txBody>
      </p:sp>
      <p:sp>
        <p:nvSpPr>
          <p:cNvPr id="10" name="rect-138"/>
          <p:cNvSpPr/>
          <p:nvPr/>
        </p:nvSpPr>
        <p:spPr>
          <a:xfrm>
            <a:off x="548640" y="5166360"/>
            <a:ext cx="31089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-139"/>
          <p:cNvSpPr txBox="1"/>
          <p:nvPr/>
        </p:nvSpPr>
        <p:spPr>
          <a:xfrm>
            <a:off x="731520" y="5303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Inversão de dependência (DIP)</a:t>
            </a:r>
            <a:endParaRPr lang="en-US" sz="1300" dirty="0"/>
          </a:p>
        </p:txBody>
      </p:sp>
      <p:sp>
        <p:nvSpPr>
          <p:cNvPr id="12" name="text-140"/>
          <p:cNvSpPr txBox="1"/>
          <p:nvPr/>
        </p:nvSpPr>
        <p:spPr>
          <a:xfrm>
            <a:off x="731520" y="5623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2"/>
                </a:solidFill>
              </a:rPr>
              <a:t>Princípio: dependa de abstrações, não de detalhes.</a:t>
            </a:r>
            <a:endParaRPr lang="en-US" sz="1250" dirty="0"/>
          </a:p>
        </p:txBody>
      </p:sp>
      <p:sp>
        <p:nvSpPr>
          <p:cNvPr id="13" name="rect-141"/>
          <p:cNvSpPr/>
          <p:nvPr/>
        </p:nvSpPr>
        <p:spPr>
          <a:xfrm>
            <a:off x="3840480" y="5166360"/>
            <a:ext cx="31089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142"/>
          <p:cNvSpPr txBox="1"/>
          <p:nvPr/>
        </p:nvSpPr>
        <p:spPr>
          <a:xfrm>
            <a:off x="4023360" y="5303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Injeção de dependência (DI)</a:t>
            </a:r>
            <a:endParaRPr lang="en-US" sz="1300" dirty="0"/>
          </a:p>
        </p:txBody>
      </p:sp>
      <p:sp>
        <p:nvSpPr>
          <p:cNvPr id="15" name="text-143"/>
          <p:cNvSpPr txBox="1"/>
          <p:nvPr/>
        </p:nvSpPr>
        <p:spPr>
          <a:xfrm>
            <a:off x="4023360" y="5623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2"/>
                </a:solidFill>
              </a:rPr>
              <a:t>Técnica: alguém de fora entrega a implementação pronta.</a:t>
            </a:r>
            <a:endParaRPr lang="en-US" sz="1250" dirty="0"/>
          </a:p>
        </p:txBody>
      </p:sp>
      <p:sp>
        <p:nvSpPr>
          <p:cNvPr id="16" name="text-144"/>
          <p:cNvSpPr txBox="1"/>
          <p:nvPr/>
        </p:nvSpPr>
        <p:spPr>
          <a:xfrm>
            <a:off x="7406640" y="1965960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COMO O CONTÊINER RESOLVE</a:t>
            </a:r>
            <a:endParaRPr lang="en-US" sz="1100" dirty="0"/>
          </a:p>
        </p:txBody>
      </p:sp>
      <p:sp>
        <p:nvSpPr>
          <p:cNvPr id="17" name="rect-145"/>
          <p:cNvSpPr/>
          <p:nvPr/>
        </p:nvSpPr>
        <p:spPr>
          <a:xfrm>
            <a:off x="7955280" y="2331720"/>
            <a:ext cx="3139135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ode-146"/>
          <p:cNvSpPr txBox="1"/>
          <p:nvPr/>
        </p:nvSpPr>
        <p:spPr>
          <a:xfrm>
            <a:off x="7955280" y="2331720"/>
            <a:ext cx="3139135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PedidosController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pede PedidoService</a:t>
            </a:r>
            <a:endParaRPr lang="en-US" sz="1300" dirty="0"/>
          </a:p>
        </p:txBody>
      </p:sp>
      <p:sp>
        <p:nvSpPr>
          <p:cNvPr id="19" name="arrow-147"/>
          <p:cNvSpPr/>
          <p:nvPr/>
        </p:nvSpPr>
        <p:spPr>
          <a:xfrm>
            <a:off x="9524848" y="3026664"/>
            <a:ext cx="0" cy="237744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20" name="rect-148"/>
          <p:cNvSpPr/>
          <p:nvPr/>
        </p:nvSpPr>
        <p:spPr>
          <a:xfrm>
            <a:off x="7955280" y="3300984"/>
            <a:ext cx="3139135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ode-149"/>
          <p:cNvSpPr txBox="1"/>
          <p:nvPr/>
        </p:nvSpPr>
        <p:spPr>
          <a:xfrm>
            <a:off x="7955280" y="3300984"/>
            <a:ext cx="3139135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PedidoService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pede IPedidoRepository</a:t>
            </a:r>
            <a:endParaRPr lang="en-US" sz="1300" dirty="0"/>
          </a:p>
        </p:txBody>
      </p:sp>
      <p:sp>
        <p:nvSpPr>
          <p:cNvPr id="22" name="arrow-150"/>
          <p:cNvSpPr/>
          <p:nvPr/>
        </p:nvSpPr>
        <p:spPr>
          <a:xfrm>
            <a:off x="9524848" y="3995928"/>
            <a:ext cx="0" cy="237744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23" name="rect-151"/>
          <p:cNvSpPr/>
          <p:nvPr/>
        </p:nvSpPr>
        <p:spPr>
          <a:xfrm>
            <a:off x="7955280" y="4270248"/>
            <a:ext cx="3139135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node-152"/>
          <p:cNvSpPr txBox="1"/>
          <p:nvPr/>
        </p:nvSpPr>
        <p:spPr>
          <a:xfrm>
            <a:off x="7955280" y="4270248"/>
            <a:ext cx="3139135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IPedidoRepository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abstração registrada</a:t>
            </a:r>
            <a:endParaRPr lang="en-US" sz="1300" dirty="0"/>
          </a:p>
        </p:txBody>
      </p:sp>
      <p:sp>
        <p:nvSpPr>
          <p:cNvPr id="25" name="arrow-153"/>
          <p:cNvSpPr/>
          <p:nvPr/>
        </p:nvSpPr>
        <p:spPr>
          <a:xfrm>
            <a:off x="9524848" y="4965192"/>
            <a:ext cx="0" cy="237744"/>
          </a:xfrm>
          <a:prstGeom prst="line">
            <a:avLst/>
          </a:prstGeom>
          <a:noFill/>
          <a:ln w="25400">
            <a:solidFill>
              <a:srgbClr val="1F3A5F"/>
            </a:solidFill>
            <a:prstDash val="dash"/>
            <a:tailEnd type="triangle"/>
          </a:ln>
        </p:spPr>
      </p:sp>
      <p:sp>
        <p:nvSpPr>
          <p:cNvPr id="26" name="rect-154"/>
          <p:cNvSpPr/>
          <p:nvPr/>
        </p:nvSpPr>
        <p:spPr>
          <a:xfrm>
            <a:off x="7955280" y="5239512"/>
            <a:ext cx="3139135" cy="658368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node-155"/>
          <p:cNvSpPr txBox="1"/>
          <p:nvPr/>
        </p:nvSpPr>
        <p:spPr>
          <a:xfrm>
            <a:off x="7955280" y="5239512"/>
            <a:ext cx="3139135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EfPedidoRepository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recebe VendasDbContext</a:t>
            </a:r>
            <a:endParaRPr lang="en-US" sz="1300" dirty="0"/>
          </a:p>
        </p:txBody>
      </p:sp>
      <p:sp>
        <p:nvSpPr>
          <p:cNvPr id="28" name="text-156"/>
          <p:cNvSpPr txBox="1"/>
          <p:nvPr/>
        </p:nvSpPr>
        <p:spPr>
          <a:xfrm>
            <a:off x="7406640" y="5989320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AddScoped: uma instância por requisição HTTP.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PARTE 4 — TESTE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Com o contrato, o teste roda sem banco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Uma implementação falsa em memória basta para testar a regra de negócio.</a:t>
            </a:r>
            <a:endParaRPr lang="en-US" sz="1600" dirty="0"/>
          </a:p>
        </p:txBody>
      </p:sp>
      <p:sp>
        <p:nvSpPr>
          <p:cNvPr id="5" name="rect-157"/>
          <p:cNvSpPr/>
          <p:nvPr/>
        </p:nvSpPr>
        <p:spPr>
          <a:xfrm>
            <a:off x="10637215" y="384048"/>
            <a:ext cx="1005840" cy="292608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158"/>
          <p:cNvSpPr txBox="1"/>
          <p:nvPr/>
        </p:nvSpPr>
        <p:spPr>
          <a:xfrm>
            <a:off x="10637215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≈ 1.5 min</a:t>
            </a:r>
            <a:endParaRPr lang="en-US" sz="1100" dirty="0"/>
          </a:p>
        </p:txBody>
      </p:sp>
      <p:sp>
        <p:nvSpPr>
          <p:cNvPr id="7" name="rect-159"/>
          <p:cNvSpPr/>
          <p:nvPr/>
        </p:nvSpPr>
        <p:spPr>
          <a:xfrm>
            <a:off x="548640" y="1965960"/>
            <a:ext cx="5410048" cy="3246120"/>
          </a:xfrm>
          <a:prstGeom prst="roundRect">
            <a:avLst>
              <a:gd name="adj" fmla="val 281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-160"/>
          <p:cNvSpPr txBox="1"/>
          <p:nvPr/>
        </p:nvSpPr>
        <p:spPr>
          <a:xfrm>
            <a:off x="777240" y="2084832"/>
            <a:ext cx="495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8794"/>
                </a:solidFill>
              </a:rPr>
              <a:t>FakePedidoRepository.cs — implementação de teste</a:t>
            </a:r>
            <a:endParaRPr lang="en-US" sz="1100" dirty="0"/>
          </a:p>
        </p:txBody>
      </p:sp>
      <p:sp>
        <p:nvSpPr>
          <p:cNvPr id="9" name="code-161"/>
          <p:cNvSpPr txBox="1"/>
          <p:nvPr/>
        </p:nvSpPr>
        <p:spPr>
          <a:xfrm>
            <a:off x="777240" y="2350008"/>
            <a:ext cx="5044288" cy="277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FakePedidoRepository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IPedidoRepository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 =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ObterPorIdAsync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=&gt;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FromResult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FirstOrDefault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AdicionarAsync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CompletedTask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SalvarAsync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=&gt;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CompletedTask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rect-162"/>
          <p:cNvSpPr/>
          <p:nvPr/>
        </p:nvSpPr>
        <p:spPr>
          <a:xfrm>
            <a:off x="6233008" y="1965960"/>
            <a:ext cx="5410048" cy="3246120"/>
          </a:xfrm>
          <a:prstGeom prst="roundRect">
            <a:avLst>
              <a:gd name="adj" fmla="val 281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-163"/>
          <p:cNvSpPr txBox="1"/>
          <p:nvPr/>
        </p:nvSpPr>
        <p:spPr>
          <a:xfrm>
            <a:off x="6461608" y="2084832"/>
            <a:ext cx="495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8794"/>
                </a:solidFill>
              </a:rPr>
              <a:t>PedidoServiceTests.cs — xUnit</a:t>
            </a:r>
            <a:endParaRPr lang="en-US" sz="1100" dirty="0"/>
          </a:p>
        </p:txBody>
      </p:sp>
      <p:sp>
        <p:nvSpPr>
          <p:cNvPr id="12" name="code-164"/>
          <p:cNvSpPr txBox="1"/>
          <p:nvPr/>
        </p:nvSpPr>
        <p:spPr>
          <a:xfrm>
            <a:off x="6461608" y="2350008"/>
            <a:ext cx="5044288" cy="277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Confirmar_SemItens_DeveFalhar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FakePedidoRepository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PedidoService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b="1" i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mesma classe de produção, outra implementação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ThrowsAsync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DomainException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() =&gt;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ConfirmarAsync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rect-165"/>
          <p:cNvSpPr/>
          <p:nvPr/>
        </p:nvSpPr>
        <p:spPr>
          <a:xfrm>
            <a:off x="548640" y="5394960"/>
            <a:ext cx="541004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bg-166"/>
          <p:cNvSpPr/>
          <p:nvPr/>
        </p:nvSpPr>
        <p:spPr>
          <a:xfrm>
            <a:off x="749808" y="559612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con-16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170" y="5705490"/>
            <a:ext cx="201900" cy="201900"/>
          </a:xfrm>
          <a:prstGeom prst="rect">
            <a:avLst/>
          </a:prstGeom>
        </p:spPr>
      </p:pic>
      <p:sp>
        <p:nvSpPr>
          <p:cNvPr id="16" name="text-168"/>
          <p:cNvSpPr txBox="1"/>
          <p:nvPr/>
        </p:nvSpPr>
        <p:spPr>
          <a:xfrm>
            <a:off x="1335024" y="5577840"/>
            <a:ext cx="444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Fake: feito à mão</a:t>
            </a:r>
            <a:endParaRPr lang="en-US" sz="1400" dirty="0"/>
          </a:p>
        </p:txBody>
      </p:sp>
      <p:sp>
        <p:nvSpPr>
          <p:cNvPr id="17" name="text-169"/>
          <p:cNvSpPr txBox="1"/>
          <p:nvPr/>
        </p:nvSpPr>
        <p:spPr>
          <a:xfrm>
            <a:off x="1335024" y="5961888"/>
            <a:ext cx="4440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Simples e suficiente na maioria dos casos.</a:t>
            </a:r>
            <a:endParaRPr lang="en-US" sz="1200" dirty="0"/>
          </a:p>
        </p:txBody>
      </p:sp>
      <p:sp>
        <p:nvSpPr>
          <p:cNvPr id="18" name="rect-170"/>
          <p:cNvSpPr/>
          <p:nvPr/>
        </p:nvSpPr>
        <p:spPr>
          <a:xfrm>
            <a:off x="6233008" y="5394960"/>
            <a:ext cx="541004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-bg-171"/>
          <p:cNvSpPr/>
          <p:nvPr/>
        </p:nvSpPr>
        <p:spPr>
          <a:xfrm>
            <a:off x="6434176" y="5596128"/>
            <a:ext cx="420624" cy="42062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icon-17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538" y="5705490"/>
            <a:ext cx="201900" cy="201900"/>
          </a:xfrm>
          <a:prstGeom prst="rect">
            <a:avLst/>
          </a:prstGeom>
        </p:spPr>
      </p:pic>
      <p:sp>
        <p:nvSpPr>
          <p:cNvPr id="21" name="text-173"/>
          <p:cNvSpPr txBox="1"/>
          <p:nvPr/>
        </p:nvSpPr>
        <p:spPr>
          <a:xfrm>
            <a:off x="7019392" y="5577840"/>
            <a:ext cx="444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Mock: Moq, NSubstitute</a:t>
            </a:r>
            <a:endParaRPr lang="en-US" sz="1400" dirty="0"/>
          </a:p>
        </p:txBody>
      </p:sp>
      <p:sp>
        <p:nvSpPr>
          <p:cNvPr id="22" name="text-174"/>
          <p:cNvSpPr txBox="1"/>
          <p:nvPr/>
        </p:nvSpPr>
        <p:spPr>
          <a:xfrm>
            <a:off x="7019392" y="5961888"/>
            <a:ext cx="4440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Quando precisar verificar chamadas e interações.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PARTE 5 — SOLID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Interface sozinha não garante baixo acoplamento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DIP: módulos de alto nível dependem de abstrações. O resto do SOLID aponta na mesma direção.</a:t>
            </a:r>
            <a:endParaRPr lang="en-US" sz="1600" dirty="0"/>
          </a:p>
        </p:txBody>
      </p:sp>
      <p:sp>
        <p:nvSpPr>
          <p:cNvPr id="5" name="rect-175"/>
          <p:cNvSpPr/>
          <p:nvPr/>
        </p:nvSpPr>
        <p:spPr>
          <a:xfrm>
            <a:off x="10637215" y="384048"/>
            <a:ext cx="1005840" cy="292608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176"/>
          <p:cNvSpPr txBox="1"/>
          <p:nvPr/>
        </p:nvSpPr>
        <p:spPr>
          <a:xfrm>
            <a:off x="10637215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≈ 2.5 min</a:t>
            </a:r>
            <a:endParaRPr lang="en-US" sz="1100" dirty="0"/>
          </a:p>
        </p:txBody>
      </p:sp>
      <p:sp>
        <p:nvSpPr>
          <p:cNvPr id="7" name="rect-177"/>
          <p:cNvSpPr/>
          <p:nvPr/>
        </p:nvSpPr>
        <p:spPr>
          <a:xfrm>
            <a:off x="548640" y="1965960"/>
            <a:ext cx="393192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178"/>
          <p:cNvSpPr txBox="1"/>
          <p:nvPr/>
        </p:nvSpPr>
        <p:spPr>
          <a:xfrm>
            <a:off x="713232" y="196596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</a:t>
            </a:r>
            <a:endParaRPr lang="en-US" sz="2200" dirty="0"/>
          </a:p>
        </p:txBody>
      </p:sp>
      <p:sp>
        <p:nvSpPr>
          <p:cNvPr id="9" name="text-179"/>
          <p:cNvSpPr txBox="1"/>
          <p:nvPr/>
        </p:nvSpPr>
        <p:spPr>
          <a:xfrm>
            <a:off x="1234440" y="20482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Responsabilidade única</a:t>
            </a:r>
            <a:endParaRPr lang="en-US" sz="1400" dirty="0"/>
          </a:p>
        </p:txBody>
      </p:sp>
      <p:sp>
        <p:nvSpPr>
          <p:cNvPr id="10" name="text-180"/>
          <p:cNvSpPr txBox="1"/>
          <p:nvPr/>
        </p:nvSpPr>
        <p:spPr>
          <a:xfrm>
            <a:off x="1234440" y="22951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uma razão para mudar</a:t>
            </a:r>
            <a:endParaRPr lang="en-US" sz="1150" dirty="0"/>
          </a:p>
        </p:txBody>
      </p:sp>
      <p:sp>
        <p:nvSpPr>
          <p:cNvPr id="11" name="rect-181"/>
          <p:cNvSpPr/>
          <p:nvPr/>
        </p:nvSpPr>
        <p:spPr>
          <a:xfrm>
            <a:off x="548640" y="2697480"/>
            <a:ext cx="393192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-182"/>
          <p:cNvSpPr txBox="1"/>
          <p:nvPr/>
        </p:nvSpPr>
        <p:spPr>
          <a:xfrm>
            <a:off x="713232" y="269748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O</a:t>
            </a:r>
            <a:endParaRPr lang="en-US" sz="2200" dirty="0"/>
          </a:p>
        </p:txBody>
      </p:sp>
      <p:sp>
        <p:nvSpPr>
          <p:cNvPr id="13" name="text-183"/>
          <p:cNvSpPr txBox="1"/>
          <p:nvPr/>
        </p:nvSpPr>
        <p:spPr>
          <a:xfrm>
            <a:off x="1234440" y="27797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Aberto / fechado</a:t>
            </a:r>
            <a:endParaRPr lang="en-US" sz="1400" dirty="0"/>
          </a:p>
        </p:txBody>
      </p:sp>
      <p:sp>
        <p:nvSpPr>
          <p:cNvPr id="14" name="text-184"/>
          <p:cNvSpPr txBox="1"/>
          <p:nvPr/>
        </p:nvSpPr>
        <p:spPr>
          <a:xfrm>
            <a:off x="1234440" y="30266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estender sem alterar</a:t>
            </a:r>
            <a:endParaRPr lang="en-US" sz="1150" dirty="0"/>
          </a:p>
        </p:txBody>
      </p:sp>
      <p:sp>
        <p:nvSpPr>
          <p:cNvPr id="15" name="rect-185"/>
          <p:cNvSpPr/>
          <p:nvPr/>
        </p:nvSpPr>
        <p:spPr>
          <a:xfrm>
            <a:off x="548640" y="3429000"/>
            <a:ext cx="393192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-186"/>
          <p:cNvSpPr txBox="1"/>
          <p:nvPr/>
        </p:nvSpPr>
        <p:spPr>
          <a:xfrm>
            <a:off x="713232" y="342900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</a:t>
            </a:r>
            <a:endParaRPr lang="en-US" sz="2200" dirty="0"/>
          </a:p>
        </p:txBody>
      </p:sp>
      <p:sp>
        <p:nvSpPr>
          <p:cNvPr id="17" name="text-187"/>
          <p:cNvSpPr txBox="1"/>
          <p:nvPr/>
        </p:nvSpPr>
        <p:spPr>
          <a:xfrm>
            <a:off x="1234440" y="35112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Substituição de Liskov</a:t>
            </a:r>
            <a:endParaRPr lang="en-US" sz="1400" dirty="0"/>
          </a:p>
        </p:txBody>
      </p:sp>
      <p:sp>
        <p:nvSpPr>
          <p:cNvPr id="18" name="text-188"/>
          <p:cNvSpPr txBox="1"/>
          <p:nvPr/>
        </p:nvSpPr>
        <p:spPr>
          <a:xfrm>
            <a:off x="1234440" y="37581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a implementação honra o contrato</a:t>
            </a:r>
            <a:endParaRPr lang="en-US" sz="1150" dirty="0"/>
          </a:p>
        </p:txBody>
      </p:sp>
      <p:sp>
        <p:nvSpPr>
          <p:cNvPr id="19" name="rect-189"/>
          <p:cNvSpPr/>
          <p:nvPr/>
        </p:nvSpPr>
        <p:spPr>
          <a:xfrm>
            <a:off x="548640" y="4160520"/>
            <a:ext cx="393192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-190"/>
          <p:cNvSpPr txBox="1"/>
          <p:nvPr/>
        </p:nvSpPr>
        <p:spPr>
          <a:xfrm>
            <a:off x="713232" y="416052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I</a:t>
            </a:r>
            <a:endParaRPr lang="en-US" sz="2200" dirty="0"/>
          </a:p>
        </p:txBody>
      </p:sp>
      <p:sp>
        <p:nvSpPr>
          <p:cNvPr id="21" name="text-191"/>
          <p:cNvSpPr txBox="1"/>
          <p:nvPr/>
        </p:nvSpPr>
        <p:spPr>
          <a:xfrm>
            <a:off x="1234440" y="42428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Segregação de interfaces</a:t>
            </a:r>
            <a:endParaRPr lang="en-US" sz="1400" dirty="0"/>
          </a:p>
        </p:txBody>
      </p:sp>
      <p:sp>
        <p:nvSpPr>
          <p:cNvPr id="22" name="text-192"/>
          <p:cNvSpPr txBox="1"/>
          <p:nvPr/>
        </p:nvSpPr>
        <p:spPr>
          <a:xfrm>
            <a:off x="1234440" y="44897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contratos pequenos e úteis</a:t>
            </a:r>
            <a:endParaRPr lang="en-US" sz="1150" dirty="0"/>
          </a:p>
        </p:txBody>
      </p:sp>
      <p:sp>
        <p:nvSpPr>
          <p:cNvPr id="23" name="rect-193"/>
          <p:cNvSpPr/>
          <p:nvPr/>
        </p:nvSpPr>
        <p:spPr>
          <a:xfrm>
            <a:off x="548640" y="4892040"/>
            <a:ext cx="3931920" cy="603504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-194"/>
          <p:cNvSpPr txBox="1"/>
          <p:nvPr/>
        </p:nvSpPr>
        <p:spPr>
          <a:xfrm>
            <a:off x="713232" y="489204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D</a:t>
            </a:r>
            <a:endParaRPr lang="en-US" sz="2200" dirty="0"/>
          </a:p>
        </p:txBody>
      </p:sp>
      <p:sp>
        <p:nvSpPr>
          <p:cNvPr id="25" name="text-195"/>
          <p:cNvSpPr txBox="1"/>
          <p:nvPr/>
        </p:nvSpPr>
        <p:spPr>
          <a:xfrm>
            <a:off x="1234440" y="49743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Inversão de dependência</a:t>
            </a:r>
            <a:endParaRPr lang="en-US" sz="1400" dirty="0"/>
          </a:p>
        </p:txBody>
      </p:sp>
      <p:sp>
        <p:nvSpPr>
          <p:cNvPr id="26" name="text-196"/>
          <p:cNvSpPr txBox="1"/>
          <p:nvPr/>
        </p:nvSpPr>
        <p:spPr>
          <a:xfrm>
            <a:off x="1234440" y="52212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dependa de abstrações</a:t>
            </a:r>
            <a:endParaRPr lang="en-US" sz="1150" dirty="0"/>
          </a:p>
        </p:txBody>
      </p:sp>
      <p:sp>
        <p:nvSpPr>
          <p:cNvPr id="27" name="text-197"/>
          <p:cNvSpPr txBox="1"/>
          <p:nvPr/>
        </p:nvSpPr>
        <p:spPr>
          <a:xfrm>
            <a:off x="4937760" y="1965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ANTES</a:t>
            </a:r>
            <a:endParaRPr lang="en-US" sz="1200" dirty="0"/>
          </a:p>
        </p:txBody>
      </p:sp>
      <p:sp>
        <p:nvSpPr>
          <p:cNvPr id="28" name="rect-198"/>
          <p:cNvSpPr/>
          <p:nvPr/>
        </p:nvSpPr>
        <p:spPr>
          <a:xfrm>
            <a:off x="5852160" y="1965960"/>
            <a:ext cx="23774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node-199"/>
          <p:cNvSpPr txBox="1"/>
          <p:nvPr/>
        </p:nvSpPr>
        <p:spPr>
          <a:xfrm>
            <a:off x="5852160" y="1965960"/>
            <a:ext cx="2377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PedidosController</a:t>
            </a:r>
            <a:endParaRPr lang="en-US" sz="1300" dirty="0"/>
          </a:p>
        </p:txBody>
      </p:sp>
      <p:sp>
        <p:nvSpPr>
          <p:cNvPr id="30" name="arrow-200"/>
          <p:cNvSpPr/>
          <p:nvPr/>
        </p:nvSpPr>
        <p:spPr>
          <a:xfrm>
            <a:off x="8275320" y="2286000"/>
            <a:ext cx="868680" cy="0"/>
          </a:xfrm>
          <a:prstGeom prst="line">
            <a:avLst/>
          </a:prstGeom>
          <a:noFill/>
          <a:ln w="28575">
            <a:solidFill>
              <a:srgbClr val="D9534F"/>
            </a:solidFill>
            <a:prstDash val="solid"/>
            <a:tailEnd type="triangle"/>
          </a:ln>
        </p:spPr>
      </p:sp>
      <p:sp>
        <p:nvSpPr>
          <p:cNvPr id="31" name="rect-201"/>
          <p:cNvSpPr/>
          <p:nvPr/>
        </p:nvSpPr>
        <p:spPr>
          <a:xfrm>
            <a:off x="9189720" y="1965960"/>
            <a:ext cx="27432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node-202"/>
          <p:cNvSpPr txBox="1"/>
          <p:nvPr/>
        </p:nvSpPr>
        <p:spPr>
          <a:xfrm>
            <a:off x="9189720" y="1965960"/>
            <a:ext cx="2743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VendasDbContext</a:t>
            </a:r>
            <a:endParaRPr lang="en-US" sz="1300" dirty="0"/>
          </a:p>
        </p:txBody>
      </p:sp>
      <p:sp>
        <p:nvSpPr>
          <p:cNvPr id="33" name="text-203"/>
          <p:cNvSpPr txBox="1"/>
          <p:nvPr/>
        </p:nvSpPr>
        <p:spPr>
          <a:xfrm>
            <a:off x="5852160" y="2651760"/>
            <a:ext cx="5790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alto nível depende do detalhe</a:t>
            </a:r>
            <a:endParaRPr lang="en-US" sz="1200" dirty="0"/>
          </a:p>
        </p:txBody>
      </p:sp>
      <p:sp>
        <p:nvSpPr>
          <p:cNvPr id="34" name="text-204"/>
          <p:cNvSpPr txBox="1"/>
          <p:nvPr/>
        </p:nvSpPr>
        <p:spPr>
          <a:xfrm>
            <a:off x="4937760" y="3246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4"/>
                </a:solidFill>
              </a:rPr>
              <a:t>DEPOIS</a:t>
            </a:r>
            <a:endParaRPr lang="en-US" sz="1200" dirty="0"/>
          </a:p>
        </p:txBody>
      </p:sp>
      <p:sp>
        <p:nvSpPr>
          <p:cNvPr id="35" name="rect-205"/>
          <p:cNvSpPr/>
          <p:nvPr/>
        </p:nvSpPr>
        <p:spPr>
          <a:xfrm>
            <a:off x="5852160" y="3246120"/>
            <a:ext cx="23774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node-206"/>
          <p:cNvSpPr txBox="1"/>
          <p:nvPr/>
        </p:nvSpPr>
        <p:spPr>
          <a:xfrm>
            <a:off x="5852160" y="3246120"/>
            <a:ext cx="2377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PedidoService</a:t>
            </a:r>
            <a:endParaRPr lang="en-US" sz="1300" dirty="0"/>
          </a:p>
        </p:txBody>
      </p:sp>
      <p:sp>
        <p:nvSpPr>
          <p:cNvPr id="37" name="rect-207"/>
          <p:cNvSpPr/>
          <p:nvPr/>
        </p:nvSpPr>
        <p:spPr>
          <a:xfrm>
            <a:off x="9189720" y="3246120"/>
            <a:ext cx="274320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node-208"/>
          <p:cNvSpPr txBox="1"/>
          <p:nvPr/>
        </p:nvSpPr>
        <p:spPr>
          <a:xfrm>
            <a:off x="9189720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IPedidoRepository</a:t>
            </a:r>
            <a:endParaRPr lang="en-US" sz="1300" dirty="0"/>
          </a:p>
        </p:txBody>
      </p:sp>
      <p:sp>
        <p:nvSpPr>
          <p:cNvPr id="39" name="arrow-209"/>
          <p:cNvSpPr/>
          <p:nvPr/>
        </p:nvSpPr>
        <p:spPr>
          <a:xfrm>
            <a:off x="8275320" y="3566160"/>
            <a:ext cx="868680" cy="0"/>
          </a:xfrm>
          <a:prstGeom prst="line">
            <a:avLst/>
          </a:prstGeom>
          <a:noFill/>
          <a:ln w="28575">
            <a:solidFill>
              <a:srgbClr val="3FA66B"/>
            </a:solidFill>
            <a:prstDash val="solid"/>
            <a:tailEnd type="triangle"/>
          </a:ln>
        </p:spPr>
      </p:sp>
      <p:sp>
        <p:nvSpPr>
          <p:cNvPr id="40" name="rect-210"/>
          <p:cNvSpPr/>
          <p:nvPr/>
        </p:nvSpPr>
        <p:spPr>
          <a:xfrm>
            <a:off x="9189720" y="4389120"/>
            <a:ext cx="27432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node-211"/>
          <p:cNvSpPr txBox="1"/>
          <p:nvPr/>
        </p:nvSpPr>
        <p:spPr>
          <a:xfrm>
            <a:off x="9189720" y="4389120"/>
            <a:ext cx="2743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EfPedidoRepository</a:t>
            </a:r>
            <a:endParaRPr lang="en-US" sz="1300" dirty="0"/>
          </a:p>
        </p:txBody>
      </p:sp>
      <p:sp>
        <p:nvSpPr>
          <p:cNvPr id="42" name="arrow-212"/>
          <p:cNvSpPr/>
          <p:nvPr/>
        </p:nvSpPr>
        <p:spPr>
          <a:xfrm flipV="1">
            <a:off x="10561320" y="3931920"/>
            <a:ext cx="0" cy="411480"/>
          </a:xfrm>
          <a:prstGeom prst="line">
            <a:avLst/>
          </a:prstGeom>
          <a:noFill/>
          <a:ln w="28575">
            <a:solidFill>
              <a:srgbClr val="3FA66B"/>
            </a:solidFill>
            <a:prstDash val="solid"/>
            <a:tailEnd type="triangle"/>
          </a:ln>
        </p:spPr>
      </p:sp>
      <p:sp>
        <p:nvSpPr>
          <p:cNvPr id="43" name="text-213"/>
          <p:cNvSpPr txBox="1"/>
          <p:nvPr/>
        </p:nvSpPr>
        <p:spPr>
          <a:xfrm>
            <a:off x="5852160" y="3931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os dois dependem da abstração</a:t>
            </a:r>
            <a:endParaRPr lang="en-US" sz="1200" dirty="0"/>
          </a:p>
        </p:txBody>
      </p:sp>
      <p:sp>
        <p:nvSpPr>
          <p:cNvPr id="44" name="rect-214"/>
          <p:cNvSpPr/>
          <p:nvPr/>
        </p:nvSpPr>
        <p:spPr>
          <a:xfrm>
            <a:off x="4937760" y="5120640"/>
            <a:ext cx="6705295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icon-bg-215"/>
          <p:cNvSpPr/>
          <p:nvPr/>
        </p:nvSpPr>
        <p:spPr>
          <a:xfrm>
            <a:off x="5138928" y="532180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6" name="icon-21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8290" y="5431170"/>
            <a:ext cx="201900" cy="201900"/>
          </a:xfrm>
          <a:prstGeom prst="rect">
            <a:avLst/>
          </a:prstGeom>
        </p:spPr>
      </p:pic>
      <p:sp>
        <p:nvSpPr>
          <p:cNvPr id="47" name="text-217"/>
          <p:cNvSpPr txBox="1"/>
          <p:nvPr/>
        </p:nvSpPr>
        <p:spPr>
          <a:xfrm>
            <a:off x="5724144" y="5303520"/>
            <a:ext cx="57360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Cuidado com a interface por convenção</a:t>
            </a:r>
            <a:endParaRPr lang="en-US" sz="1450" dirty="0"/>
          </a:p>
        </p:txBody>
      </p:sp>
      <p:sp>
        <p:nvSpPr>
          <p:cNvPr id="48" name="text-218"/>
          <p:cNvSpPr txBox="1"/>
          <p:nvPr/>
        </p:nvSpPr>
        <p:spPr>
          <a:xfrm>
            <a:off x="5724144" y="5687568"/>
            <a:ext cx="57360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2"/>
                </a:solidFill>
              </a:rPr>
              <a:t>IPedidoService com um único PedidoService só adiciona um arquivo. Não reduz acoplamento.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PARTE 5 — INTRODUÇÃO AO DDD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DDD é sobre o negócio. Camadas são consequência.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Domain-Driven Design: modelar o software a partir do domínio, com a linguagem de quem usa o sistema.</a:t>
            </a:r>
            <a:endParaRPr lang="en-US" sz="1600" dirty="0"/>
          </a:p>
        </p:txBody>
      </p:sp>
      <p:sp>
        <p:nvSpPr>
          <p:cNvPr id="5" name="rect-219"/>
          <p:cNvSpPr/>
          <p:nvPr/>
        </p:nvSpPr>
        <p:spPr>
          <a:xfrm>
            <a:off x="10637215" y="384048"/>
            <a:ext cx="1005840" cy="292608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220"/>
          <p:cNvSpPr txBox="1"/>
          <p:nvPr/>
        </p:nvSpPr>
        <p:spPr>
          <a:xfrm>
            <a:off x="10637215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≈ 2 min</a:t>
            </a:r>
            <a:endParaRPr lang="en-US" sz="1100" dirty="0"/>
          </a:p>
        </p:txBody>
      </p:sp>
      <p:sp>
        <p:nvSpPr>
          <p:cNvPr id="7" name="rect-221"/>
          <p:cNvSpPr/>
          <p:nvPr/>
        </p:nvSpPr>
        <p:spPr>
          <a:xfrm>
            <a:off x="548640" y="1965960"/>
            <a:ext cx="32918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con-bg-222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9" name="icon-22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313432"/>
            <a:ext cx="219456" cy="219456"/>
          </a:xfrm>
          <a:prstGeom prst="rect">
            <a:avLst/>
          </a:prstGeom>
        </p:spPr>
      </p:pic>
      <p:sp>
        <p:nvSpPr>
          <p:cNvPr id="10" name="text-224"/>
          <p:cNvSpPr txBox="1"/>
          <p:nvPr/>
        </p:nvSpPr>
        <p:spPr>
          <a:xfrm>
            <a:off x="1371600" y="2167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Infraestrutura</a:t>
            </a:r>
            <a:endParaRPr lang="en-US" sz="1700" dirty="0"/>
          </a:p>
        </p:txBody>
      </p:sp>
      <p:sp>
        <p:nvSpPr>
          <p:cNvPr id="11" name="text-225"/>
          <p:cNvSpPr txBox="1"/>
          <p:nvPr/>
        </p:nvSpPr>
        <p:spPr>
          <a:xfrm>
            <a:off x="1371600" y="24597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detalhes técnicos</a:t>
            </a:r>
            <a:endParaRPr lang="en-US" sz="1150" dirty="0"/>
          </a:p>
        </p:txBody>
      </p:sp>
      <p:sp>
        <p:nvSpPr>
          <p:cNvPr id="12" name="text-226"/>
          <p:cNvSpPr txBox="1"/>
          <p:nvPr/>
        </p:nvSpPr>
        <p:spPr>
          <a:xfrm>
            <a:off x="822960" y="292608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EF Core, SQL Server, e-mail, filas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Implementa IPedidoRepository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Depende das abstrações</a:t>
            </a:r>
            <a:endParaRPr lang="en-US" sz="1350" dirty="0"/>
          </a:p>
        </p:txBody>
      </p:sp>
      <p:sp>
        <p:nvSpPr>
          <p:cNvPr id="13" name="arrow-227"/>
          <p:cNvSpPr/>
          <p:nvPr/>
        </p:nvSpPr>
        <p:spPr>
          <a:xfrm>
            <a:off x="3877056" y="3474720"/>
            <a:ext cx="536296" cy="0"/>
          </a:xfrm>
          <a:prstGeom prst="line">
            <a:avLst/>
          </a:prstGeom>
          <a:noFill/>
          <a:ln w="317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14" name="rect-228"/>
          <p:cNvSpPr/>
          <p:nvPr/>
        </p:nvSpPr>
        <p:spPr>
          <a:xfrm>
            <a:off x="4449928" y="1965960"/>
            <a:ext cx="32918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-bg-229"/>
          <p:cNvSpPr/>
          <p:nvPr/>
        </p:nvSpPr>
        <p:spPr>
          <a:xfrm>
            <a:off x="4678528" y="219456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6" name="icon-23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400" y="2313432"/>
            <a:ext cx="219456" cy="219456"/>
          </a:xfrm>
          <a:prstGeom prst="rect">
            <a:avLst/>
          </a:prstGeom>
        </p:spPr>
      </p:pic>
      <p:sp>
        <p:nvSpPr>
          <p:cNvPr id="17" name="text-231"/>
          <p:cNvSpPr txBox="1"/>
          <p:nvPr/>
        </p:nvSpPr>
        <p:spPr>
          <a:xfrm>
            <a:off x="5272888" y="2167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Aplicação</a:t>
            </a:r>
            <a:endParaRPr lang="en-US" sz="1700" dirty="0"/>
          </a:p>
        </p:txBody>
      </p:sp>
      <p:sp>
        <p:nvSpPr>
          <p:cNvPr id="18" name="text-232"/>
          <p:cNvSpPr txBox="1"/>
          <p:nvPr/>
        </p:nvSpPr>
        <p:spPr>
          <a:xfrm>
            <a:off x="5272888" y="24597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casos de uso</a:t>
            </a:r>
            <a:endParaRPr lang="en-US" sz="1150" dirty="0"/>
          </a:p>
        </p:txBody>
      </p:sp>
      <p:sp>
        <p:nvSpPr>
          <p:cNvPr id="19" name="text-233"/>
          <p:cNvSpPr txBox="1"/>
          <p:nvPr/>
        </p:nvSpPr>
        <p:spPr>
          <a:xfrm>
            <a:off x="4724248" y="292608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CriarPedido, ConfirmarPedido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Orquestra domínio e repositório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Não tem regra de negócio</a:t>
            </a:r>
            <a:endParaRPr lang="en-US" sz="1350" dirty="0"/>
          </a:p>
        </p:txBody>
      </p:sp>
      <p:sp>
        <p:nvSpPr>
          <p:cNvPr id="20" name="arrow-234"/>
          <p:cNvSpPr/>
          <p:nvPr/>
        </p:nvSpPr>
        <p:spPr>
          <a:xfrm>
            <a:off x="7778344" y="3474720"/>
            <a:ext cx="536296" cy="0"/>
          </a:xfrm>
          <a:prstGeom prst="line">
            <a:avLst/>
          </a:prstGeom>
          <a:noFill/>
          <a:ln w="317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21" name="rect-235"/>
          <p:cNvSpPr/>
          <p:nvPr/>
        </p:nvSpPr>
        <p:spPr>
          <a:xfrm>
            <a:off x="8351215" y="1965960"/>
            <a:ext cx="329184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icon-bg-236"/>
          <p:cNvSpPr/>
          <p:nvPr/>
        </p:nvSpPr>
        <p:spPr>
          <a:xfrm>
            <a:off x="8579815" y="2194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-23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8687" y="2313432"/>
            <a:ext cx="219456" cy="219456"/>
          </a:xfrm>
          <a:prstGeom prst="rect">
            <a:avLst/>
          </a:prstGeom>
        </p:spPr>
      </p:pic>
      <p:sp>
        <p:nvSpPr>
          <p:cNvPr id="24" name="text-238"/>
          <p:cNvSpPr txBox="1"/>
          <p:nvPr/>
        </p:nvSpPr>
        <p:spPr>
          <a:xfrm>
            <a:off x="9174175" y="2167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Domínio</a:t>
            </a:r>
            <a:endParaRPr lang="en-US" sz="1700" dirty="0"/>
          </a:p>
        </p:txBody>
      </p:sp>
      <p:sp>
        <p:nvSpPr>
          <p:cNvPr id="25" name="text-239"/>
          <p:cNvSpPr txBox="1"/>
          <p:nvPr/>
        </p:nvSpPr>
        <p:spPr>
          <a:xfrm>
            <a:off x="9174175" y="24597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o coração</a:t>
            </a:r>
            <a:endParaRPr lang="en-US" sz="1150" dirty="0"/>
          </a:p>
        </p:txBody>
      </p:sp>
      <p:sp>
        <p:nvSpPr>
          <p:cNvPr id="26" name="text-240"/>
          <p:cNvSpPr txBox="1"/>
          <p:nvPr/>
        </p:nvSpPr>
        <p:spPr>
          <a:xfrm>
            <a:off x="8625535" y="292608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Pedido, ItemPedido, Dinheiro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Regra: pedido sem item não confirma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Não conhece banco nem HTTP</a:t>
            </a:r>
            <a:endParaRPr lang="en-US" sz="1350" dirty="0"/>
          </a:p>
        </p:txBody>
      </p:sp>
      <p:sp>
        <p:nvSpPr>
          <p:cNvPr id="27" name="text-241"/>
          <p:cNvSpPr txBox="1"/>
          <p:nvPr/>
        </p:nvSpPr>
        <p:spPr>
          <a:xfrm>
            <a:off x="548640" y="50932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accent2"/>
                </a:solidFill>
              </a:rPr>
              <a:t>direção das dependências: tudo aponta para o domínio</a:t>
            </a:r>
            <a:endParaRPr lang="en-US" sz="1250" dirty="0"/>
          </a:p>
        </p:txBody>
      </p:sp>
      <p:sp>
        <p:nvSpPr>
          <p:cNvPr id="28" name="rect-242"/>
          <p:cNvSpPr/>
          <p:nvPr/>
        </p:nvSpPr>
        <p:spPr>
          <a:xfrm>
            <a:off x="548640" y="5486400"/>
            <a:ext cx="11094415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-243"/>
          <p:cNvSpPr txBox="1"/>
          <p:nvPr/>
        </p:nvSpPr>
        <p:spPr>
          <a:xfrm>
            <a:off x="822960" y="5486400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DDD não é sinônimo de </a:t>
            </a:r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Clean Architecture, Repository ou interfaces.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  Esses são apoios. O foco é o modelo do negócio.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PARTE 5 — ENTIDADES E OBJETOS DE VALOR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regra de negócio mora no modelo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O mesmo Pedido, duas modelagens: uma só carrega dados, a outra protege as próprias regras.</a:t>
            </a:r>
            <a:endParaRPr lang="en-US" sz="1600" dirty="0"/>
          </a:p>
        </p:txBody>
      </p:sp>
      <p:sp>
        <p:nvSpPr>
          <p:cNvPr id="5" name="rect-244"/>
          <p:cNvSpPr/>
          <p:nvPr/>
        </p:nvSpPr>
        <p:spPr>
          <a:xfrm>
            <a:off x="10637215" y="384048"/>
            <a:ext cx="1005840" cy="292608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245"/>
          <p:cNvSpPr txBox="1"/>
          <p:nvPr/>
        </p:nvSpPr>
        <p:spPr>
          <a:xfrm>
            <a:off x="10637215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≈ 2.5 min</a:t>
            </a:r>
            <a:endParaRPr lang="en-US" sz="1100" dirty="0"/>
          </a:p>
        </p:txBody>
      </p:sp>
      <p:sp>
        <p:nvSpPr>
          <p:cNvPr id="7" name="rect-246"/>
          <p:cNvSpPr/>
          <p:nvPr/>
        </p:nvSpPr>
        <p:spPr>
          <a:xfrm>
            <a:off x="548640" y="1965960"/>
            <a:ext cx="5410048" cy="3337560"/>
          </a:xfrm>
          <a:prstGeom prst="roundRect">
            <a:avLst>
              <a:gd name="adj" fmla="val 274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-247"/>
          <p:cNvSpPr txBox="1"/>
          <p:nvPr/>
        </p:nvSpPr>
        <p:spPr>
          <a:xfrm>
            <a:off x="777240" y="2084832"/>
            <a:ext cx="495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08A86"/>
                </a:solidFill>
              </a:rPr>
              <a:t>ANÊMICO · só transporta dados</a:t>
            </a:r>
            <a:endParaRPr lang="en-US" sz="1100" dirty="0"/>
          </a:p>
        </p:txBody>
      </p:sp>
      <p:sp>
        <p:nvSpPr>
          <p:cNvPr id="9" name="code-248"/>
          <p:cNvSpPr txBox="1"/>
          <p:nvPr/>
        </p:nvSpPr>
        <p:spPr>
          <a:xfrm>
            <a:off x="777240" y="2350008"/>
            <a:ext cx="5044288" cy="2862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 =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BD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"Rascunho"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Itens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 =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em algum controller ou serviço...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Itens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0)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BD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"Pedido sem itens."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BD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"Confirmado"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b="1" i="1" dirty="0">
                <a:solidFill>
                  <a:srgbClr val="F08A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qualquer um muda o estado. A regra fica espalhada.</a:t>
            </a:r>
            <a:endParaRPr lang="en-US" sz="1200" dirty="0"/>
          </a:p>
        </p:txBody>
      </p:sp>
      <p:sp>
        <p:nvSpPr>
          <p:cNvPr id="10" name="rect-249"/>
          <p:cNvSpPr/>
          <p:nvPr/>
        </p:nvSpPr>
        <p:spPr>
          <a:xfrm>
            <a:off x="6233008" y="1965960"/>
            <a:ext cx="5410048" cy="4160520"/>
          </a:xfrm>
          <a:prstGeom prst="roundRect">
            <a:avLst>
              <a:gd name="adj" fmla="val 219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-250"/>
          <p:cNvSpPr txBox="1"/>
          <p:nvPr/>
        </p:nvSpPr>
        <p:spPr>
          <a:xfrm>
            <a:off x="6461608" y="2084832"/>
            <a:ext cx="495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D3A7"/>
                </a:solidFill>
              </a:rPr>
              <a:t>RICO · protege as regras</a:t>
            </a:r>
            <a:endParaRPr lang="en-US" sz="1100" dirty="0"/>
          </a:p>
        </p:txBody>
      </p:sp>
      <p:sp>
        <p:nvSpPr>
          <p:cNvPr id="12" name="code-251"/>
          <p:cNvSpPr txBox="1"/>
          <p:nvPr/>
        </p:nvSpPr>
        <p:spPr>
          <a:xfrm>
            <a:off x="6461608" y="2350008"/>
            <a:ext cx="5044288" cy="368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readonly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_itens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 =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NewGuid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IReadOnlyCollection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Itens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_itens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AdicionarItem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Dinheiro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/* ... */ }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Confirmar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_itens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0)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DomainException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BD3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"Pedido sem itens."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StatusPedido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Confirmado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Dinheiro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Moeda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13" name="rect-252"/>
          <p:cNvSpPr/>
          <p:nvPr/>
        </p:nvSpPr>
        <p:spPr>
          <a:xfrm>
            <a:off x="548640" y="5440680"/>
            <a:ext cx="2613584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253"/>
          <p:cNvSpPr txBox="1"/>
          <p:nvPr/>
        </p:nvSpPr>
        <p:spPr>
          <a:xfrm>
            <a:off x="731520" y="5532120"/>
            <a:ext cx="224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Entidade</a:t>
            </a:r>
            <a:endParaRPr lang="en-US" sz="1300" dirty="0"/>
          </a:p>
        </p:txBody>
      </p:sp>
      <p:sp>
        <p:nvSpPr>
          <p:cNvPr id="15" name="text-254"/>
          <p:cNvSpPr txBox="1"/>
          <p:nvPr/>
        </p:nvSpPr>
        <p:spPr>
          <a:xfrm>
            <a:off x="731520" y="5788152"/>
            <a:ext cx="224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tem identidade: Pedido, ItemPedido</a:t>
            </a:r>
            <a:endParaRPr lang="en-US" sz="1150" dirty="0"/>
          </a:p>
        </p:txBody>
      </p:sp>
      <p:sp>
        <p:nvSpPr>
          <p:cNvPr id="16" name="rect-255"/>
          <p:cNvSpPr/>
          <p:nvPr/>
        </p:nvSpPr>
        <p:spPr>
          <a:xfrm>
            <a:off x="3345104" y="5440680"/>
            <a:ext cx="2613584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-256"/>
          <p:cNvSpPr txBox="1"/>
          <p:nvPr/>
        </p:nvSpPr>
        <p:spPr>
          <a:xfrm>
            <a:off x="3527984" y="5532120"/>
            <a:ext cx="224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Objeto de valor</a:t>
            </a:r>
            <a:endParaRPr lang="en-US" sz="1300" dirty="0"/>
          </a:p>
        </p:txBody>
      </p:sp>
      <p:sp>
        <p:nvSpPr>
          <p:cNvPr id="18" name="text-257"/>
          <p:cNvSpPr txBox="1"/>
          <p:nvPr/>
        </p:nvSpPr>
        <p:spPr>
          <a:xfrm>
            <a:off x="3527984" y="5788152"/>
            <a:ext cx="224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só valor, imutável: Dinheiro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PARTE 6 — ANTES × DEPOIS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mesma API, agora com DDD, SOLID e padrões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Mesmos endpoints, mesmo banco. Muda onde cada responsabilidade mora.</a:t>
            </a:r>
            <a:endParaRPr lang="en-US" sz="1600" dirty="0"/>
          </a:p>
        </p:txBody>
      </p:sp>
      <p:sp>
        <p:nvSpPr>
          <p:cNvPr id="5" name="rect-258"/>
          <p:cNvSpPr/>
          <p:nvPr/>
        </p:nvSpPr>
        <p:spPr>
          <a:xfrm>
            <a:off x="10637215" y="384048"/>
            <a:ext cx="1005840" cy="292608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259"/>
          <p:cNvSpPr txBox="1"/>
          <p:nvPr/>
        </p:nvSpPr>
        <p:spPr>
          <a:xfrm>
            <a:off x="10637215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≈ 2 min</a:t>
            </a:r>
            <a:endParaRPr lang="en-US" sz="1100" dirty="0"/>
          </a:p>
        </p:txBody>
      </p:sp>
      <p:sp>
        <p:nvSpPr>
          <p:cNvPr id="7" name="rect-260"/>
          <p:cNvSpPr/>
          <p:nvPr/>
        </p:nvSpPr>
        <p:spPr>
          <a:xfrm>
            <a:off x="548640" y="1965960"/>
            <a:ext cx="4572000" cy="4069080"/>
          </a:xfrm>
          <a:prstGeom prst="roundRect">
            <a:avLst>
              <a:gd name="adj" fmla="val 269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-261"/>
          <p:cNvSpPr txBox="1"/>
          <p:nvPr/>
        </p:nvSpPr>
        <p:spPr>
          <a:xfrm>
            <a:off x="777240" y="2084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08A86"/>
                </a:solidFill>
              </a:rPr>
              <a:t>ANTES · tudo no controller</a:t>
            </a:r>
            <a:endParaRPr lang="en-US" sz="1100" dirty="0"/>
          </a:p>
        </p:txBody>
      </p:sp>
      <p:sp>
        <p:nvSpPr>
          <p:cNvPr id="9" name="text-262"/>
          <p:cNvSpPr txBox="1"/>
          <p:nvPr/>
        </p:nvSpPr>
        <p:spPr>
          <a:xfrm>
            <a:off x="777240" y="2423160"/>
            <a:ext cx="260604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PedidosApi.Antes/</a:t>
            </a:r>
            <a:endParaRPr lang="en-US" sz="1250" dirty="0"/>
          </a:p>
        </p:txBody>
      </p:sp>
      <p:sp>
        <p:nvSpPr>
          <p:cNvPr id="10" name="text-263"/>
          <p:cNvSpPr txBox="1"/>
          <p:nvPr/>
        </p:nvSpPr>
        <p:spPr>
          <a:xfrm>
            <a:off x="1051560" y="2688336"/>
            <a:ext cx="233172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Controllers/</a:t>
            </a:r>
            <a:endParaRPr lang="en-US" sz="1250" dirty="0"/>
          </a:p>
        </p:txBody>
      </p:sp>
      <p:sp>
        <p:nvSpPr>
          <p:cNvPr id="11" name="text-264"/>
          <p:cNvSpPr txBox="1"/>
          <p:nvPr/>
        </p:nvSpPr>
        <p:spPr>
          <a:xfrm>
            <a:off x="1325880" y="2953512"/>
            <a:ext cx="205740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A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PedidosController.cs</a:t>
            </a:r>
            <a:endParaRPr lang="en-US" sz="1250" dirty="0"/>
          </a:p>
        </p:txBody>
      </p:sp>
      <p:sp>
        <p:nvSpPr>
          <p:cNvPr id="12" name="text-265"/>
          <p:cNvSpPr txBox="1"/>
          <p:nvPr/>
        </p:nvSpPr>
        <p:spPr>
          <a:xfrm>
            <a:off x="3383280" y="2953512"/>
            <a:ext cx="150876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794"/>
                </a:solidFill>
              </a:rPr>
              <a:t>banco + regra + e-mail</a:t>
            </a:r>
            <a:endParaRPr lang="en-US" sz="1150" dirty="0"/>
          </a:p>
        </p:txBody>
      </p:sp>
      <p:sp>
        <p:nvSpPr>
          <p:cNvPr id="13" name="text-266"/>
          <p:cNvSpPr txBox="1"/>
          <p:nvPr/>
        </p:nvSpPr>
        <p:spPr>
          <a:xfrm>
            <a:off x="1051560" y="3218688"/>
            <a:ext cx="233172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</a:t>
            </a:r>
            <a:endParaRPr lang="en-US" sz="1250" dirty="0"/>
          </a:p>
        </p:txBody>
      </p:sp>
      <p:sp>
        <p:nvSpPr>
          <p:cNvPr id="14" name="text-267"/>
          <p:cNvSpPr txBox="1"/>
          <p:nvPr/>
        </p:nvSpPr>
        <p:spPr>
          <a:xfrm>
            <a:off x="1325880" y="3483864"/>
            <a:ext cx="205740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Pedido.cs</a:t>
            </a:r>
            <a:endParaRPr lang="en-US" sz="1250" dirty="0"/>
          </a:p>
        </p:txBody>
      </p:sp>
      <p:sp>
        <p:nvSpPr>
          <p:cNvPr id="15" name="text-268"/>
          <p:cNvSpPr txBox="1"/>
          <p:nvPr/>
        </p:nvSpPr>
        <p:spPr>
          <a:xfrm>
            <a:off x="3383280" y="3483864"/>
            <a:ext cx="150876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794"/>
                </a:solidFill>
              </a:rPr>
              <a:t>só dados, status em string</a:t>
            </a:r>
            <a:endParaRPr lang="en-US" sz="1150" dirty="0"/>
          </a:p>
        </p:txBody>
      </p:sp>
      <p:sp>
        <p:nvSpPr>
          <p:cNvPr id="16" name="text-269"/>
          <p:cNvSpPr txBox="1"/>
          <p:nvPr/>
        </p:nvSpPr>
        <p:spPr>
          <a:xfrm>
            <a:off x="1325880" y="3749040"/>
            <a:ext cx="205740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ItemPedido.cs</a:t>
            </a:r>
            <a:endParaRPr lang="en-US" sz="1250" dirty="0"/>
          </a:p>
        </p:txBody>
      </p:sp>
      <p:sp>
        <p:nvSpPr>
          <p:cNvPr id="17" name="text-270"/>
          <p:cNvSpPr txBox="1"/>
          <p:nvPr/>
        </p:nvSpPr>
        <p:spPr>
          <a:xfrm>
            <a:off x="1051560" y="4014216"/>
            <a:ext cx="233172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A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VendasDbContext.cs</a:t>
            </a:r>
            <a:endParaRPr lang="en-US" sz="1250" dirty="0"/>
          </a:p>
        </p:txBody>
      </p:sp>
      <p:sp>
        <p:nvSpPr>
          <p:cNvPr id="18" name="text-271"/>
          <p:cNvSpPr txBox="1"/>
          <p:nvPr/>
        </p:nvSpPr>
        <p:spPr>
          <a:xfrm>
            <a:off x="3383280" y="4014216"/>
            <a:ext cx="150876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794"/>
                </a:solidFill>
              </a:rPr>
              <a:t>new em cada action</a:t>
            </a:r>
            <a:endParaRPr lang="en-US" sz="1150" dirty="0"/>
          </a:p>
        </p:txBody>
      </p:sp>
      <p:sp>
        <p:nvSpPr>
          <p:cNvPr id="19" name="text-272"/>
          <p:cNvSpPr txBox="1"/>
          <p:nvPr/>
        </p:nvSpPr>
        <p:spPr>
          <a:xfrm>
            <a:off x="1051560" y="4279392"/>
            <a:ext cx="233172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EmailService.cs</a:t>
            </a:r>
            <a:endParaRPr lang="en-US" sz="1250" dirty="0"/>
          </a:p>
        </p:txBody>
      </p:sp>
      <p:sp>
        <p:nvSpPr>
          <p:cNvPr id="20" name="text-273"/>
          <p:cNvSpPr txBox="1"/>
          <p:nvPr/>
        </p:nvSpPr>
        <p:spPr>
          <a:xfrm>
            <a:off x="3383280" y="4279392"/>
            <a:ext cx="150876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794"/>
                </a:solidFill>
              </a:rPr>
              <a:t>chamado direto</a:t>
            </a:r>
            <a:endParaRPr lang="en-US" sz="1150" dirty="0"/>
          </a:p>
        </p:txBody>
      </p:sp>
      <p:sp>
        <p:nvSpPr>
          <p:cNvPr id="21" name="text-274"/>
          <p:cNvSpPr txBox="1"/>
          <p:nvPr/>
        </p:nvSpPr>
        <p:spPr>
          <a:xfrm>
            <a:off x="1051560" y="4544568"/>
            <a:ext cx="2331720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1250" dirty="0"/>
          </a:p>
        </p:txBody>
      </p:sp>
      <p:sp>
        <p:nvSpPr>
          <p:cNvPr id="22" name="rect-275"/>
          <p:cNvSpPr/>
          <p:nvPr/>
        </p:nvSpPr>
        <p:spPr>
          <a:xfrm>
            <a:off x="5394960" y="1965960"/>
            <a:ext cx="6248095" cy="4069080"/>
          </a:xfrm>
          <a:prstGeom prst="roundRect">
            <a:avLst>
              <a:gd name="adj" fmla="val 269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-276"/>
          <p:cNvSpPr txBox="1"/>
          <p:nvPr/>
        </p:nvSpPr>
        <p:spPr>
          <a:xfrm>
            <a:off x="5623560" y="2084832"/>
            <a:ext cx="5790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D3A7"/>
                </a:solidFill>
              </a:rPr>
              <a:t>DEPOIS · cada coisa no seu lugar</a:t>
            </a:r>
            <a:endParaRPr lang="en-US" sz="1100" dirty="0"/>
          </a:p>
        </p:txBody>
      </p:sp>
      <p:sp>
        <p:nvSpPr>
          <p:cNvPr id="24" name="text-277"/>
          <p:cNvSpPr txBox="1"/>
          <p:nvPr/>
        </p:nvSpPr>
        <p:spPr>
          <a:xfrm>
            <a:off x="5623560" y="2423160"/>
            <a:ext cx="320785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PedidosApi.Depois/</a:t>
            </a:r>
            <a:endParaRPr lang="en-US" sz="1200" dirty="0"/>
          </a:p>
        </p:txBody>
      </p:sp>
      <p:sp>
        <p:nvSpPr>
          <p:cNvPr id="25" name="text-278"/>
          <p:cNvSpPr txBox="1"/>
          <p:nvPr/>
        </p:nvSpPr>
        <p:spPr>
          <a:xfrm>
            <a:off x="5897880" y="2688336"/>
            <a:ext cx="293353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Domain/Pedidos/</a:t>
            </a:r>
            <a:endParaRPr lang="en-US" sz="1200" dirty="0"/>
          </a:p>
        </p:txBody>
      </p:sp>
      <p:sp>
        <p:nvSpPr>
          <p:cNvPr id="26" name="text-279"/>
          <p:cNvSpPr txBox="1"/>
          <p:nvPr/>
        </p:nvSpPr>
        <p:spPr>
          <a:xfrm>
            <a:off x="8831412" y="2688336"/>
            <a:ext cx="258304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</a:rPr>
              <a:t>regras do negócio</a:t>
            </a:r>
            <a:endParaRPr lang="en-US" sz="1100" dirty="0"/>
          </a:p>
        </p:txBody>
      </p:sp>
      <p:sp>
        <p:nvSpPr>
          <p:cNvPr id="27" name="text-280"/>
          <p:cNvSpPr txBox="1"/>
          <p:nvPr/>
        </p:nvSpPr>
        <p:spPr>
          <a:xfrm>
            <a:off x="6172200" y="2953512"/>
            <a:ext cx="265921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Pedido.cs</a:t>
            </a:r>
            <a:endParaRPr lang="en-US" sz="1200" dirty="0"/>
          </a:p>
        </p:txBody>
      </p:sp>
      <p:sp>
        <p:nvSpPr>
          <p:cNvPr id="28" name="text-281"/>
          <p:cNvSpPr txBox="1"/>
          <p:nvPr/>
        </p:nvSpPr>
        <p:spPr>
          <a:xfrm>
            <a:off x="8831412" y="2953512"/>
            <a:ext cx="258304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</a:rPr>
              <a:t>entidade raiz · Confirmar()</a:t>
            </a:r>
            <a:endParaRPr lang="en-US" sz="1100" dirty="0"/>
          </a:p>
        </p:txBody>
      </p:sp>
      <p:sp>
        <p:nvSpPr>
          <p:cNvPr id="29" name="text-282"/>
          <p:cNvSpPr txBox="1"/>
          <p:nvPr/>
        </p:nvSpPr>
        <p:spPr>
          <a:xfrm>
            <a:off x="6172200" y="3218688"/>
            <a:ext cx="265921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Dinheiro.cs</a:t>
            </a:r>
            <a:endParaRPr lang="en-US" sz="1200" dirty="0"/>
          </a:p>
        </p:txBody>
      </p:sp>
      <p:sp>
        <p:nvSpPr>
          <p:cNvPr id="30" name="text-283"/>
          <p:cNvSpPr txBox="1"/>
          <p:nvPr/>
        </p:nvSpPr>
        <p:spPr>
          <a:xfrm>
            <a:off x="8831412" y="3218688"/>
            <a:ext cx="258304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</a:rPr>
              <a:t>objeto de valor</a:t>
            </a:r>
            <a:endParaRPr lang="en-US" sz="1100" dirty="0"/>
          </a:p>
        </p:txBody>
      </p:sp>
      <p:sp>
        <p:nvSpPr>
          <p:cNvPr id="31" name="text-284"/>
          <p:cNvSpPr txBox="1"/>
          <p:nvPr/>
        </p:nvSpPr>
        <p:spPr>
          <a:xfrm>
            <a:off x="6172200" y="3483864"/>
            <a:ext cx="265921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IPedidoRepository.cs</a:t>
            </a:r>
            <a:endParaRPr lang="en-US" sz="1200" dirty="0"/>
          </a:p>
        </p:txBody>
      </p:sp>
      <p:sp>
        <p:nvSpPr>
          <p:cNvPr id="32" name="text-285"/>
          <p:cNvSpPr txBox="1"/>
          <p:nvPr/>
        </p:nvSpPr>
        <p:spPr>
          <a:xfrm>
            <a:off x="8831412" y="3483864"/>
            <a:ext cx="258304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</a:rPr>
              <a:t>contrato · DIP</a:t>
            </a:r>
            <a:endParaRPr lang="en-US" sz="1100" dirty="0"/>
          </a:p>
        </p:txBody>
      </p:sp>
      <p:sp>
        <p:nvSpPr>
          <p:cNvPr id="33" name="text-286"/>
          <p:cNvSpPr txBox="1"/>
          <p:nvPr/>
        </p:nvSpPr>
        <p:spPr>
          <a:xfrm>
            <a:off x="5897880" y="3749040"/>
            <a:ext cx="293353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Application/Pedidos/</a:t>
            </a:r>
            <a:endParaRPr lang="en-US" sz="1200" dirty="0"/>
          </a:p>
        </p:txBody>
      </p:sp>
      <p:sp>
        <p:nvSpPr>
          <p:cNvPr id="34" name="text-287"/>
          <p:cNvSpPr txBox="1"/>
          <p:nvPr/>
        </p:nvSpPr>
        <p:spPr>
          <a:xfrm>
            <a:off x="8831412" y="3749040"/>
            <a:ext cx="258304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</a:rPr>
              <a:t>casos de uso</a:t>
            </a:r>
            <a:endParaRPr lang="en-US" sz="1100" dirty="0"/>
          </a:p>
        </p:txBody>
      </p:sp>
      <p:sp>
        <p:nvSpPr>
          <p:cNvPr id="35" name="text-288"/>
          <p:cNvSpPr txBox="1"/>
          <p:nvPr/>
        </p:nvSpPr>
        <p:spPr>
          <a:xfrm>
            <a:off x="6172200" y="4014216"/>
            <a:ext cx="265921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PedidoService.cs</a:t>
            </a:r>
            <a:endParaRPr lang="en-US" sz="1200" dirty="0"/>
          </a:p>
        </p:txBody>
      </p:sp>
      <p:sp>
        <p:nvSpPr>
          <p:cNvPr id="36" name="text-289"/>
          <p:cNvSpPr txBox="1"/>
          <p:nvPr/>
        </p:nvSpPr>
        <p:spPr>
          <a:xfrm>
            <a:off x="8831412" y="4014216"/>
            <a:ext cx="258304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</a:rPr>
              <a:t>orquestra, sem SQL</a:t>
            </a:r>
            <a:endParaRPr lang="en-US" sz="1100" dirty="0"/>
          </a:p>
        </p:txBody>
      </p:sp>
      <p:sp>
        <p:nvSpPr>
          <p:cNvPr id="37" name="text-290"/>
          <p:cNvSpPr txBox="1"/>
          <p:nvPr/>
        </p:nvSpPr>
        <p:spPr>
          <a:xfrm>
            <a:off x="6172200" y="4279392"/>
            <a:ext cx="265921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INotificadorPedido.cs</a:t>
            </a:r>
            <a:endParaRPr lang="en-US" sz="1200" dirty="0"/>
          </a:p>
        </p:txBody>
      </p:sp>
      <p:sp>
        <p:nvSpPr>
          <p:cNvPr id="38" name="text-291"/>
          <p:cNvSpPr txBox="1"/>
          <p:nvPr/>
        </p:nvSpPr>
        <p:spPr>
          <a:xfrm>
            <a:off x="8831412" y="4279392"/>
            <a:ext cx="258304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</a:rPr>
              <a:t>contrato do e-mail</a:t>
            </a:r>
            <a:endParaRPr lang="en-US" sz="1100" dirty="0"/>
          </a:p>
        </p:txBody>
      </p:sp>
      <p:sp>
        <p:nvSpPr>
          <p:cNvPr id="39" name="text-292"/>
          <p:cNvSpPr txBox="1"/>
          <p:nvPr/>
        </p:nvSpPr>
        <p:spPr>
          <a:xfrm>
            <a:off x="5897880" y="4544568"/>
            <a:ext cx="293353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Infrastructure/</a:t>
            </a:r>
            <a:endParaRPr lang="en-US" sz="1200" dirty="0"/>
          </a:p>
        </p:txBody>
      </p:sp>
      <p:sp>
        <p:nvSpPr>
          <p:cNvPr id="40" name="text-293"/>
          <p:cNvSpPr txBox="1"/>
          <p:nvPr/>
        </p:nvSpPr>
        <p:spPr>
          <a:xfrm>
            <a:off x="8831412" y="4544568"/>
            <a:ext cx="258304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</a:rPr>
              <a:t>detalhes técnicos</a:t>
            </a:r>
            <a:endParaRPr lang="en-US" sz="1100" dirty="0"/>
          </a:p>
        </p:txBody>
      </p:sp>
      <p:sp>
        <p:nvSpPr>
          <p:cNvPr id="41" name="text-294"/>
          <p:cNvSpPr txBox="1"/>
          <p:nvPr/>
        </p:nvSpPr>
        <p:spPr>
          <a:xfrm>
            <a:off x="6172200" y="4809744"/>
            <a:ext cx="265921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EfPedidoRepository.cs</a:t>
            </a:r>
            <a:endParaRPr lang="en-US" sz="1200" dirty="0"/>
          </a:p>
        </p:txBody>
      </p:sp>
      <p:sp>
        <p:nvSpPr>
          <p:cNvPr id="42" name="text-295"/>
          <p:cNvSpPr txBox="1"/>
          <p:nvPr/>
        </p:nvSpPr>
        <p:spPr>
          <a:xfrm>
            <a:off x="8831412" y="4809744"/>
            <a:ext cx="258304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</a:rPr>
              <a:t>Repository com EF Core</a:t>
            </a:r>
            <a:endParaRPr lang="en-US" sz="1100" dirty="0"/>
          </a:p>
        </p:txBody>
      </p:sp>
      <p:sp>
        <p:nvSpPr>
          <p:cNvPr id="43" name="text-296"/>
          <p:cNvSpPr txBox="1"/>
          <p:nvPr/>
        </p:nvSpPr>
        <p:spPr>
          <a:xfrm>
            <a:off x="6172200" y="5074920"/>
            <a:ext cx="265921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EmailNotificadorPedido.cs</a:t>
            </a:r>
            <a:endParaRPr lang="en-US" sz="1200" dirty="0"/>
          </a:p>
        </p:txBody>
      </p:sp>
      <p:sp>
        <p:nvSpPr>
          <p:cNvPr id="44" name="text-297"/>
          <p:cNvSpPr txBox="1"/>
          <p:nvPr/>
        </p:nvSpPr>
        <p:spPr>
          <a:xfrm>
            <a:off x="8831412" y="5074920"/>
            <a:ext cx="258304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</a:rPr>
              <a:t>implementa o contrato</a:t>
            </a:r>
            <a:endParaRPr lang="en-US" sz="1100" dirty="0"/>
          </a:p>
        </p:txBody>
      </p:sp>
      <p:sp>
        <p:nvSpPr>
          <p:cNvPr id="45" name="text-298"/>
          <p:cNvSpPr txBox="1"/>
          <p:nvPr/>
        </p:nvSpPr>
        <p:spPr>
          <a:xfrm>
            <a:off x="5897880" y="5340096"/>
            <a:ext cx="293353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Api/PedidosController.cs</a:t>
            </a:r>
            <a:endParaRPr lang="en-US" sz="1200" dirty="0"/>
          </a:p>
        </p:txBody>
      </p:sp>
      <p:sp>
        <p:nvSpPr>
          <p:cNvPr id="46" name="text-299"/>
          <p:cNvSpPr txBox="1"/>
          <p:nvPr/>
        </p:nvSpPr>
        <p:spPr>
          <a:xfrm>
            <a:off x="8831412" y="5340096"/>
            <a:ext cx="258304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</a:rPr>
              <a:t>fino: HTTP → serviço</a:t>
            </a:r>
            <a:endParaRPr lang="en-US" sz="1100" dirty="0"/>
          </a:p>
        </p:txBody>
      </p:sp>
      <p:sp>
        <p:nvSpPr>
          <p:cNvPr id="47" name="text-300"/>
          <p:cNvSpPr txBox="1"/>
          <p:nvPr/>
        </p:nvSpPr>
        <p:spPr>
          <a:xfrm>
            <a:off x="5897880" y="5605272"/>
            <a:ext cx="2933532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1200" dirty="0"/>
          </a:p>
        </p:txBody>
      </p:sp>
      <p:sp>
        <p:nvSpPr>
          <p:cNvPr id="48" name="text-301"/>
          <p:cNvSpPr txBox="1"/>
          <p:nvPr/>
        </p:nvSpPr>
        <p:spPr>
          <a:xfrm>
            <a:off x="8831412" y="5605272"/>
            <a:ext cx="2583043" cy="2651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</a:rPr>
              <a:t>DI: liga contratos a implementações</a:t>
            </a:r>
            <a:endParaRPr lang="en-US" sz="1100" dirty="0"/>
          </a:p>
        </p:txBody>
      </p:sp>
      <p:sp>
        <p:nvSpPr>
          <p:cNvPr id="49" name="text-302"/>
          <p:cNvSpPr txBox="1"/>
          <p:nvPr/>
        </p:nvSpPr>
        <p:spPr>
          <a:xfrm>
            <a:off x="548640" y="6080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Projetos de exemplo acompanham a aula: PedidosApi.Antes e PedidosApi.Depois.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03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PARTE 6 — FECHAMENTO</a:t>
            </a:r>
            <a:endParaRPr lang="en-US" sz="1200" dirty="0"/>
          </a:p>
        </p:txBody>
      </p:sp>
      <p:sp>
        <p:nvSpPr>
          <p:cNvPr id="3" name="text-304"/>
          <p:cNvSpPr txBox="1"/>
          <p:nvPr/>
        </p:nvSpPr>
        <p:spPr>
          <a:xfrm>
            <a:off x="548640" y="65836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 fluxo completo e um checklist</a:t>
            </a:r>
            <a:endParaRPr lang="en-US" sz="3400" dirty="0"/>
          </a:p>
        </p:txBody>
      </p:sp>
      <p:sp>
        <p:nvSpPr>
          <p:cNvPr id="4" name="rect-305"/>
          <p:cNvSpPr/>
          <p:nvPr/>
        </p:nvSpPr>
        <p:spPr>
          <a:xfrm>
            <a:off x="10637215" y="384048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2A4B75"/>
          </a:solidFill>
          <a:ln w="12700">
            <a:solidFill>
              <a:srgbClr val="2A4B75"/>
            </a:solidFill>
            <a:prstDash val="solid"/>
          </a:ln>
        </p:spPr>
      </p:sp>
      <p:sp>
        <p:nvSpPr>
          <p:cNvPr id="5" name="text-306"/>
          <p:cNvSpPr txBox="1"/>
          <p:nvPr/>
        </p:nvSpPr>
        <p:spPr>
          <a:xfrm>
            <a:off x="10637215" y="384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≈ 3 min</a:t>
            </a:r>
            <a:endParaRPr lang="en-US" sz="1100" dirty="0"/>
          </a:p>
        </p:txBody>
      </p:sp>
      <p:sp>
        <p:nvSpPr>
          <p:cNvPr id="6" name="rect-307"/>
          <p:cNvSpPr/>
          <p:nvPr/>
        </p:nvSpPr>
        <p:spPr>
          <a:xfrm>
            <a:off x="548640" y="2194560"/>
            <a:ext cx="1965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node-308"/>
          <p:cNvSpPr txBox="1"/>
          <p:nvPr/>
        </p:nvSpPr>
        <p:spPr>
          <a:xfrm>
            <a:off x="548640" y="2194560"/>
            <a:ext cx="1965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Controller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1400" dirty="0"/>
          </a:p>
        </p:txBody>
      </p:sp>
      <p:sp>
        <p:nvSpPr>
          <p:cNvPr id="8" name="arrow-309"/>
          <p:cNvSpPr/>
          <p:nvPr/>
        </p:nvSpPr>
        <p:spPr>
          <a:xfrm>
            <a:off x="2560320" y="2606040"/>
            <a:ext cx="224714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9" name="rect-310"/>
          <p:cNvSpPr/>
          <p:nvPr/>
        </p:nvSpPr>
        <p:spPr>
          <a:xfrm>
            <a:off x="2830754" y="2194560"/>
            <a:ext cx="1965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node-311"/>
          <p:cNvSpPr txBox="1"/>
          <p:nvPr/>
        </p:nvSpPr>
        <p:spPr>
          <a:xfrm>
            <a:off x="2830754" y="2194560"/>
            <a:ext cx="1965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Aplicação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PedidoService</a:t>
            </a:r>
            <a:endParaRPr lang="en-US" sz="1400" dirty="0"/>
          </a:p>
        </p:txBody>
      </p:sp>
      <p:sp>
        <p:nvSpPr>
          <p:cNvPr id="11" name="arrow-312"/>
          <p:cNvSpPr/>
          <p:nvPr/>
        </p:nvSpPr>
        <p:spPr>
          <a:xfrm>
            <a:off x="4842434" y="2606040"/>
            <a:ext cx="224714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12" name="rect-313"/>
          <p:cNvSpPr/>
          <p:nvPr/>
        </p:nvSpPr>
        <p:spPr>
          <a:xfrm>
            <a:off x="5112868" y="2194560"/>
            <a:ext cx="196596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ode-314"/>
          <p:cNvSpPr txBox="1"/>
          <p:nvPr/>
        </p:nvSpPr>
        <p:spPr>
          <a:xfrm>
            <a:off x="5112868" y="2194560"/>
            <a:ext cx="1965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Abstração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IPedidoRepository</a:t>
            </a:r>
            <a:endParaRPr lang="en-US" sz="1400" dirty="0"/>
          </a:p>
        </p:txBody>
      </p:sp>
      <p:sp>
        <p:nvSpPr>
          <p:cNvPr id="14" name="arrow-315"/>
          <p:cNvSpPr/>
          <p:nvPr/>
        </p:nvSpPr>
        <p:spPr>
          <a:xfrm>
            <a:off x="7124548" y="2606040"/>
            <a:ext cx="224714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15" name="rect-316"/>
          <p:cNvSpPr/>
          <p:nvPr/>
        </p:nvSpPr>
        <p:spPr>
          <a:xfrm>
            <a:off x="7394981" y="2194560"/>
            <a:ext cx="1965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node-317"/>
          <p:cNvSpPr txBox="1"/>
          <p:nvPr/>
        </p:nvSpPr>
        <p:spPr>
          <a:xfrm>
            <a:off x="7394981" y="2194560"/>
            <a:ext cx="1965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Implementação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EfPedidoRepository</a:t>
            </a:r>
            <a:endParaRPr lang="en-US" sz="1400" dirty="0"/>
          </a:p>
        </p:txBody>
      </p:sp>
      <p:sp>
        <p:nvSpPr>
          <p:cNvPr id="17" name="arrow-318"/>
          <p:cNvSpPr/>
          <p:nvPr/>
        </p:nvSpPr>
        <p:spPr>
          <a:xfrm>
            <a:off x="9406661" y="2606040"/>
            <a:ext cx="224714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18" name="rect-319"/>
          <p:cNvSpPr/>
          <p:nvPr/>
        </p:nvSpPr>
        <p:spPr>
          <a:xfrm>
            <a:off x="9677095" y="2194560"/>
            <a:ext cx="196596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ode-320"/>
          <p:cNvSpPr txBox="1"/>
          <p:nvPr/>
        </p:nvSpPr>
        <p:spPr>
          <a:xfrm>
            <a:off x="9677095" y="2194560"/>
            <a:ext cx="1965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Banco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Server</a:t>
            </a:r>
            <a:endParaRPr lang="en-US" sz="1400" dirty="0"/>
          </a:p>
        </p:txBody>
      </p:sp>
      <p:sp>
        <p:nvSpPr>
          <p:cNvPr id="20" name="rect-321"/>
          <p:cNvSpPr/>
          <p:nvPr/>
        </p:nvSpPr>
        <p:spPr>
          <a:xfrm>
            <a:off x="5112868" y="1481328"/>
            <a:ext cx="4248074" cy="420624"/>
          </a:xfrm>
          <a:prstGeom prst="roundRect">
            <a:avLst>
              <a:gd name="adj" fmla="val 26087"/>
            </a:avLst>
          </a:prstGeom>
          <a:solidFill>
            <a:srgbClr val="2A4B75"/>
          </a:solidFill>
          <a:ln w="12700">
            <a:solidFill>
              <a:srgbClr val="2A4B75"/>
            </a:solidFill>
            <a:prstDash val="solid"/>
          </a:ln>
        </p:spPr>
      </p:sp>
      <p:sp>
        <p:nvSpPr>
          <p:cNvPr id="21" name="text-322"/>
          <p:cNvSpPr txBox="1"/>
          <p:nvPr/>
        </p:nvSpPr>
        <p:spPr>
          <a:xfrm>
            <a:off x="5112868" y="1481328"/>
            <a:ext cx="42480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DI em Program.cs: liga IPedidoRepository a EfPedidoRepository</a:t>
            </a:r>
            <a:endParaRPr lang="en-US" sz="1250" dirty="0"/>
          </a:p>
        </p:txBody>
      </p:sp>
      <p:sp>
        <p:nvSpPr>
          <p:cNvPr id="22" name="arrow-323"/>
          <p:cNvSpPr/>
          <p:nvPr/>
        </p:nvSpPr>
        <p:spPr>
          <a:xfrm>
            <a:off x="6095848" y="1929384"/>
            <a:ext cx="0" cy="228600"/>
          </a:xfrm>
          <a:prstGeom prst="line">
            <a:avLst/>
          </a:prstGeom>
          <a:noFill/>
          <a:ln w="19050">
            <a:solidFill>
              <a:srgbClr val="F2A93B"/>
            </a:solidFill>
            <a:prstDash val="dash"/>
            <a:tailEnd type="triangle"/>
          </a:ln>
        </p:spPr>
      </p:sp>
      <p:sp>
        <p:nvSpPr>
          <p:cNvPr id="23" name="arrow-324"/>
          <p:cNvSpPr/>
          <p:nvPr/>
        </p:nvSpPr>
        <p:spPr>
          <a:xfrm>
            <a:off x="8377961" y="1929384"/>
            <a:ext cx="0" cy="228600"/>
          </a:xfrm>
          <a:prstGeom prst="line">
            <a:avLst/>
          </a:prstGeom>
          <a:noFill/>
          <a:ln w="19050">
            <a:solidFill>
              <a:srgbClr val="F2A93B"/>
            </a:solidFill>
            <a:prstDash val="dash"/>
            <a:tailEnd type="triangle"/>
          </a:ln>
        </p:spPr>
      </p:sp>
      <p:sp>
        <p:nvSpPr>
          <p:cNvPr id="24" name="text-325"/>
          <p:cNvSpPr txBox="1"/>
          <p:nvPr/>
        </p:nvSpPr>
        <p:spPr>
          <a:xfrm>
            <a:off x="548640" y="32918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CHECKLIST ANTES DE CRIAR UMA INTERFACE OU UM REPOSITÓRIO</a:t>
            </a:r>
            <a:endParaRPr lang="en-US" sz="1100" dirty="0"/>
          </a:p>
        </p:txBody>
      </p:sp>
      <p:sp>
        <p:nvSpPr>
          <p:cNvPr id="25" name="rect-326"/>
          <p:cNvSpPr/>
          <p:nvPr/>
        </p:nvSpPr>
        <p:spPr>
          <a:xfrm>
            <a:off x="548640" y="3657600"/>
            <a:ext cx="5410048" cy="548640"/>
          </a:xfrm>
          <a:prstGeom prst="roundRect">
            <a:avLst>
              <a:gd name="adj" fmla="val 20000"/>
            </a:avLst>
          </a:prstGeom>
          <a:solidFill>
            <a:srgbClr val="2A4B75"/>
          </a:solidFill>
          <a:ln w="12700">
            <a:solidFill>
              <a:srgbClr val="2A4B75"/>
            </a:solidFill>
            <a:prstDash val="solid"/>
          </a:ln>
        </p:spPr>
      </p:sp>
      <p:sp>
        <p:nvSpPr>
          <p:cNvPr id="26" name="icon-bg-327"/>
          <p:cNvSpPr/>
          <p:nvPr/>
        </p:nvSpPr>
        <p:spPr>
          <a:xfrm>
            <a:off x="685800" y="3776472"/>
            <a:ext cx="310896" cy="31089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7" name="icon-32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633" y="3857305"/>
            <a:ext cx="149230" cy="149230"/>
          </a:xfrm>
          <a:prstGeom prst="rect">
            <a:avLst/>
          </a:prstGeom>
        </p:spPr>
      </p:pic>
      <p:sp>
        <p:nvSpPr>
          <p:cNvPr id="28" name="text-329"/>
          <p:cNvSpPr txBox="1"/>
          <p:nvPr/>
        </p:nvSpPr>
        <p:spPr>
          <a:xfrm>
            <a:off x="1143000" y="3657600"/>
            <a:ext cx="467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Existe acoplamento desnecessário com uma implementação concreta?</a:t>
            </a:r>
            <a:endParaRPr lang="en-US" sz="1350" dirty="0"/>
          </a:p>
        </p:txBody>
      </p:sp>
      <p:sp>
        <p:nvSpPr>
          <p:cNvPr id="29" name="rect-330"/>
          <p:cNvSpPr/>
          <p:nvPr/>
        </p:nvSpPr>
        <p:spPr>
          <a:xfrm>
            <a:off x="6233008" y="3657600"/>
            <a:ext cx="5410048" cy="548640"/>
          </a:xfrm>
          <a:prstGeom prst="roundRect">
            <a:avLst>
              <a:gd name="adj" fmla="val 20000"/>
            </a:avLst>
          </a:prstGeom>
          <a:solidFill>
            <a:srgbClr val="2A4B75"/>
          </a:solidFill>
          <a:ln w="12700">
            <a:solidFill>
              <a:srgbClr val="2A4B75"/>
            </a:solidFill>
            <a:prstDash val="solid"/>
          </a:ln>
        </p:spPr>
      </p:sp>
      <p:sp>
        <p:nvSpPr>
          <p:cNvPr id="30" name="icon-bg-331"/>
          <p:cNvSpPr/>
          <p:nvPr/>
        </p:nvSpPr>
        <p:spPr>
          <a:xfrm>
            <a:off x="6370168" y="3776472"/>
            <a:ext cx="310896" cy="31089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1" name="icon-33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001" y="3857305"/>
            <a:ext cx="149230" cy="149230"/>
          </a:xfrm>
          <a:prstGeom prst="rect">
            <a:avLst/>
          </a:prstGeom>
        </p:spPr>
      </p:pic>
      <p:sp>
        <p:nvSpPr>
          <p:cNvPr id="32" name="text-333"/>
          <p:cNvSpPr txBox="1"/>
          <p:nvPr/>
        </p:nvSpPr>
        <p:spPr>
          <a:xfrm>
            <a:off x="6827368" y="3657600"/>
            <a:ext cx="467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Há necessidade real de substituir ou isolar essa dependência?</a:t>
            </a:r>
            <a:endParaRPr lang="en-US" sz="1350" dirty="0"/>
          </a:p>
        </p:txBody>
      </p:sp>
      <p:sp>
        <p:nvSpPr>
          <p:cNvPr id="33" name="rect-334"/>
          <p:cNvSpPr/>
          <p:nvPr/>
        </p:nvSpPr>
        <p:spPr>
          <a:xfrm>
            <a:off x="548640" y="4315968"/>
            <a:ext cx="5410048" cy="548640"/>
          </a:xfrm>
          <a:prstGeom prst="roundRect">
            <a:avLst>
              <a:gd name="adj" fmla="val 20000"/>
            </a:avLst>
          </a:prstGeom>
          <a:solidFill>
            <a:srgbClr val="2A4B75"/>
          </a:solidFill>
          <a:ln w="12700">
            <a:solidFill>
              <a:srgbClr val="2A4B75"/>
            </a:solidFill>
            <a:prstDash val="solid"/>
          </a:ln>
        </p:spPr>
      </p:sp>
      <p:sp>
        <p:nvSpPr>
          <p:cNvPr id="34" name="icon-bg-335"/>
          <p:cNvSpPr/>
          <p:nvPr/>
        </p:nvSpPr>
        <p:spPr>
          <a:xfrm>
            <a:off x="685800" y="4434840"/>
            <a:ext cx="310896" cy="31089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5" name="icon-33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633" y="4515673"/>
            <a:ext cx="149230" cy="149230"/>
          </a:xfrm>
          <a:prstGeom prst="rect">
            <a:avLst/>
          </a:prstGeom>
        </p:spPr>
      </p:pic>
      <p:sp>
        <p:nvSpPr>
          <p:cNvPr id="36" name="text-337"/>
          <p:cNvSpPr txBox="1"/>
          <p:nvPr/>
        </p:nvSpPr>
        <p:spPr>
          <a:xfrm>
            <a:off x="1143000" y="4315968"/>
            <a:ext cx="467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A interface é um contrato útil ou foi criada por convenção?</a:t>
            </a:r>
            <a:endParaRPr lang="en-US" sz="1350" dirty="0"/>
          </a:p>
        </p:txBody>
      </p:sp>
      <p:sp>
        <p:nvSpPr>
          <p:cNvPr id="37" name="rect-338"/>
          <p:cNvSpPr/>
          <p:nvPr/>
        </p:nvSpPr>
        <p:spPr>
          <a:xfrm>
            <a:off x="6233008" y="4315968"/>
            <a:ext cx="5410048" cy="548640"/>
          </a:xfrm>
          <a:prstGeom prst="roundRect">
            <a:avLst>
              <a:gd name="adj" fmla="val 20000"/>
            </a:avLst>
          </a:prstGeom>
          <a:solidFill>
            <a:srgbClr val="2A4B75"/>
          </a:solidFill>
          <a:ln w="12700">
            <a:solidFill>
              <a:srgbClr val="2A4B75"/>
            </a:solidFill>
            <a:prstDash val="solid"/>
          </a:ln>
        </p:spPr>
      </p:sp>
      <p:sp>
        <p:nvSpPr>
          <p:cNvPr id="38" name="icon-bg-339"/>
          <p:cNvSpPr/>
          <p:nvPr/>
        </p:nvSpPr>
        <p:spPr>
          <a:xfrm>
            <a:off x="6370168" y="4434840"/>
            <a:ext cx="310896" cy="31089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9" name="icon-34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001" y="4515673"/>
            <a:ext cx="149230" cy="149230"/>
          </a:xfrm>
          <a:prstGeom prst="rect">
            <a:avLst/>
          </a:prstGeom>
        </p:spPr>
      </p:pic>
      <p:sp>
        <p:nvSpPr>
          <p:cNvPr id="40" name="text-341"/>
          <p:cNvSpPr txBox="1"/>
          <p:nvPr/>
        </p:nvSpPr>
        <p:spPr>
          <a:xfrm>
            <a:off x="6827368" y="4315968"/>
            <a:ext cx="467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O repositório protege uma fronteira ou só duplica a API do ORM?</a:t>
            </a:r>
            <a:endParaRPr lang="en-US" sz="1350" dirty="0"/>
          </a:p>
        </p:txBody>
      </p:sp>
      <p:sp>
        <p:nvSpPr>
          <p:cNvPr id="41" name="rect-342"/>
          <p:cNvSpPr/>
          <p:nvPr/>
        </p:nvSpPr>
        <p:spPr>
          <a:xfrm>
            <a:off x="548640" y="4974336"/>
            <a:ext cx="5410048" cy="548640"/>
          </a:xfrm>
          <a:prstGeom prst="roundRect">
            <a:avLst>
              <a:gd name="adj" fmla="val 20000"/>
            </a:avLst>
          </a:prstGeom>
          <a:solidFill>
            <a:srgbClr val="2A4B75"/>
          </a:solidFill>
          <a:ln w="12700">
            <a:solidFill>
              <a:srgbClr val="2A4B75"/>
            </a:solidFill>
            <a:prstDash val="solid"/>
          </a:ln>
        </p:spPr>
      </p:sp>
      <p:sp>
        <p:nvSpPr>
          <p:cNvPr id="42" name="icon-bg-343"/>
          <p:cNvSpPr/>
          <p:nvPr/>
        </p:nvSpPr>
        <p:spPr>
          <a:xfrm>
            <a:off x="685800" y="5093208"/>
            <a:ext cx="310896" cy="31089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3" name="icon-34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633" y="5174041"/>
            <a:ext cx="149230" cy="149230"/>
          </a:xfrm>
          <a:prstGeom prst="rect">
            <a:avLst/>
          </a:prstGeom>
        </p:spPr>
      </p:pic>
      <p:sp>
        <p:nvSpPr>
          <p:cNvPr id="44" name="text-345"/>
          <p:cNvSpPr txBox="1"/>
          <p:nvPr/>
        </p:nvSpPr>
        <p:spPr>
          <a:xfrm>
            <a:off x="1143000" y="4974336"/>
            <a:ext cx="467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As regras de negócio estão no lugar adequado?</a:t>
            </a:r>
            <a:endParaRPr lang="en-US" sz="1350" dirty="0"/>
          </a:p>
        </p:txBody>
      </p:sp>
      <p:sp>
        <p:nvSpPr>
          <p:cNvPr id="45" name="rect-346"/>
          <p:cNvSpPr/>
          <p:nvPr/>
        </p:nvSpPr>
        <p:spPr>
          <a:xfrm>
            <a:off x="6233008" y="4974336"/>
            <a:ext cx="5410048" cy="548640"/>
          </a:xfrm>
          <a:prstGeom prst="roundRect">
            <a:avLst>
              <a:gd name="adj" fmla="val 20000"/>
            </a:avLst>
          </a:prstGeom>
          <a:solidFill>
            <a:srgbClr val="2A4B75"/>
          </a:solidFill>
          <a:ln w="12700">
            <a:solidFill>
              <a:srgbClr val="2A4B75"/>
            </a:solidFill>
            <a:prstDash val="solid"/>
          </a:ln>
        </p:spPr>
      </p:sp>
      <p:sp>
        <p:nvSpPr>
          <p:cNvPr id="46" name="icon-bg-347"/>
          <p:cNvSpPr/>
          <p:nvPr/>
        </p:nvSpPr>
        <p:spPr>
          <a:xfrm>
            <a:off x="6370168" y="5093208"/>
            <a:ext cx="310896" cy="31089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7" name="icon-34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1001" y="5174041"/>
            <a:ext cx="149230" cy="149230"/>
          </a:xfrm>
          <a:prstGeom prst="rect">
            <a:avLst/>
          </a:prstGeom>
        </p:spPr>
      </p:pic>
      <p:sp>
        <p:nvSpPr>
          <p:cNvPr id="48" name="text-349"/>
          <p:cNvSpPr txBox="1"/>
          <p:nvPr/>
        </p:nvSpPr>
        <p:spPr>
          <a:xfrm>
            <a:off x="6827368" y="4974336"/>
            <a:ext cx="467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A solução simplifica testes, manutenção e evolução de verdade?</a:t>
            </a:r>
            <a:endParaRPr lang="en-US" sz="1350" dirty="0"/>
          </a:p>
        </p:txBody>
      </p:sp>
      <p:sp>
        <p:nvSpPr>
          <p:cNvPr id="49" name="text-350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Abstraia para desacoplar. Desacople para modelar o domínio com clareza.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">
      <a:dk1>
        <a:srgbClr val="1B2430"/>
      </a:dk1>
      <a:lt1>
        <a:srgbClr val="FFFFFF"/>
      </a:lt1>
      <a:dk2>
        <a:srgbClr val="1F3A5F"/>
      </a:dk2>
      <a:lt2>
        <a:srgbClr val="E9EEF5"/>
      </a:lt2>
      <a:accent1>
        <a:srgbClr val="F2A93B"/>
      </a:accent1>
      <a:accent2>
        <a:srgbClr val="5C6B7A"/>
      </a:accent2>
      <a:accent3>
        <a:srgbClr val="D9534F"/>
      </a:accent3>
      <a:accent4>
        <a:srgbClr val="3FA66B"/>
      </a:accent4>
      <a:accent5>
        <a:srgbClr val="14202E"/>
      </a:accent5>
      <a:accent6>
        <a:srgbClr val="7FB3E6"/>
      </a:accent6>
      <a:hlink>
        <a:srgbClr val="1F3A5F"/>
      </a:hlink>
      <a:folHlink>
        <a:srgbClr val="5C6B7A"/>
      </a:folHlink>
    </a:clrScheme>
    <a:fontScheme name="Blueprin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Abstrações, Repository, DI e um primeiro passo em DDD</dc:title>
  <dc:subject>PptxGenJS Presentation</dc:subject>
  <dc:creator>Denis</dc:creator>
  <cp:lastModifiedBy>Denis</cp:lastModifiedBy>
  <cp:revision>1</cp:revision>
  <dcterms:created xsi:type="dcterms:W3CDTF">2026-10-12T00:05:52Z</dcterms:created>
  <dcterms:modified xsi:type="dcterms:W3CDTF">2026-10-12T00:05:52Z</dcterms:modified>
</cp:coreProperties>
</file>