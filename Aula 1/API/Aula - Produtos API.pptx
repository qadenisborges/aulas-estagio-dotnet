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prática sobre a Produtos API. Ao final o aluno deve conseguir rodar a aplicação, abrir o Swagger e fazer as seis operações do CRUD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analogia do restaurante. O ponto principal: a API é um contrato — quem chama não precisa saber como a resposta foi produzida.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que a resposta tem duas partes: o status code (deu certo? deu errado? por quê?) e o corpo (os dados).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mesmo endereço /produtos faz coisas diferentes conforme o verbo. Costuma ser o primeiro 'clique' mental do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 erro de NuGet, o projeto tem um nuget.config que força o uso do nuget.org. Verifique também se o terminal está na pasta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Enfatize: ninguém escreveu esta página à mão. O Swagger lê o código e monta a documentação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que ajuda: 'este pedido muda alguma coisa no servidor?' Se não muda, é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o aluno clicar. É o primeiro momento em que ele faz uma chamada de API com as próprias mãos.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Aponte as três partes da resposta: código, corpo e headers. O Swagger mostra as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aluno apontar no JSON: quantos produtos vieram? qual o preço do segundo?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primeiro pedido que altera o estado da API. Antes de executar, pergunte à turma o que eles acham que vai voltar.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o aluno chamar GET /produtos/5 em seguida, para confirmar que o produto realmente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grupos são o que mais importa: 2xx, 4xx e 5xx. O aluno não precisa decorar a lista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 o 400: no 404 o pedido está certo mas o alvo não existe; no 400 o pedido em si está mal formado.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no código que ninguém escreveu um 'if' para isso. Os atributos declaram a regra e o framework devolve o 400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rápido: se eu mandar PUT com só o preço, o que acontece com o nome? Resposta: some, porque PUT exige o objeto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procurarem 'custoInterno' na resposta do GET /produtos. Não está lá. É o exemplo mais concreto de por que DTO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esperado (404, 400) x erro inesperado (500). O 500 quer dizer 'o problema é nosso, não seu'.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o ProdutosController.cs com a turma e localize o método Criar. Conecte o código com o POST que eles executaram.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exercícios são os mesmos da Parte 9 do material de estudo. Peça as respostas por escrito, com as próprias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voltando ao material de estudo: a Parte 9 tem os exercícios práticos, e o desafio final pede para explicar o caminho completo da requisição.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937760" cy="4937760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PRÁTICA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API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564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uma API na prática, do zero, usando o Swagger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31596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159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conhecimento prévio necessário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COMEÇANDO DO COMEÇO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API?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garçom entre dois sistemas. Você não entra na cozinha: faz o pedido, ele leva, e volta com o prato.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5059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4323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faz um pedido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7249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pede algo específico: “me traga a lista de produtos”.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2552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garçom leva à cozinha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5478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recebe o pedido e passa para quem sabe resolver.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0782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cozinha prepara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3708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busca os dados e monta a resposta.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19472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9011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prato volta à mesa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51937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a resposta — e nunca precisou ver a cozinha.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0" y="1536192"/>
            <a:ext cx="3685032" cy="2395728"/>
          </a:xfrm>
          <a:prstGeom prst="roundRect">
            <a:avLst>
              <a:gd name="adj" fmla="val 1908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01584" y="17373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importa?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101584" y="2121408"/>
            <a:ext cx="3209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site, o app do celular e o sistema interno podem ser feitos por times diferentes.</a:t>
            </a:r>
            <a:endParaRPr lang="en-US" sz="13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conversam com a MESMA API.</a:t>
            </a:r>
            <a:endParaRPr lang="en-US" sz="1300" dirty="0"/>
          </a:p>
          <a:p>
            <a:pPr marL="342900" indent="-342900">
              <a:lnSpc>
                <a:spcPts val="156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fica num lugar só. Mudou o preço? Muda na API, e todo mundo enxerga.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 RESPONSE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 uma requisição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vez que você usa uma API, acontece sempre a mesma ida e volta.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14600" cy="2286000"/>
          </a:xfrm>
          <a:prstGeom prst="roundRect">
            <a:avLst>
              <a:gd name="adj" fmla="val 2000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14016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07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9184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pedido: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Swagger, um site,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aplicativo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108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F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38728" y="2194560"/>
            <a:ext cx="2514600" cy="2286000"/>
          </a:xfrm>
          <a:prstGeom prst="roundRect">
            <a:avLst>
              <a:gd name="adj" fmla="val 2000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2414016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907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29184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pergunta, escrita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HTTP: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/produtos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3108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F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437376" y="2194560"/>
            <a:ext cx="2514600" cy="2286000"/>
          </a:xfrm>
          <a:prstGeom prst="roundRect">
            <a:avLst>
              <a:gd name="adj" fmla="val 2000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3408" y="241401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93408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93408" y="2907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93408" y="329184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Recebe, entende e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o pedido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51976" y="31089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F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336024" y="2194560"/>
            <a:ext cx="2514600" cy="2286000"/>
          </a:xfrm>
          <a:prstGeom prst="roundRect">
            <a:avLst>
              <a:gd name="adj" fmla="val 2000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92056" y="2414016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92056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592056" y="290779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592056" y="329184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resposta: um código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status e, quase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sempre, um JSON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736592"/>
            <a:ext cx="10911535" cy="1335024"/>
          </a:xfrm>
          <a:prstGeom prst="roundRect">
            <a:avLst>
              <a:gd name="adj" fmla="val 4110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4882896"/>
            <a:ext cx="1058235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/produtos                             → a pergunta que o cliente faz</a:t>
            </a:r>
            <a:endParaRPr lang="en-US" sz="1250" dirty="0"/>
          </a:p>
          <a:p>
            <a:pPr indent="0" marL="0">
              <a:lnSpc>
                <a:spcPts val="1625"/>
              </a:lnSpc>
              <a:buNone/>
            </a:pPr>
            <a:endParaRPr lang="en-US" sz="125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2C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25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"itens": [ ... ], "totalDeItens": 4 }   → a resposta que a API devolve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que vamos usar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API pequena que gerencia produtos. Já vem com 4 produtos cadastrados e guarda tudo na memória — dá para experimentar sem medo de estragar nada.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963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3B8FD4"/>
          </a:solidFill>
          <a:ln w="12700">
            <a:solidFill>
              <a:srgbClr val="3B8F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963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496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4963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lista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3B8FD4"/>
          </a:solidFill>
          <a:ln w="12700">
            <a:solidFill>
              <a:srgbClr val="3B8F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535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9535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/produtos/1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953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um produto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4107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3E9E63"/>
          </a:solidFill>
          <a:ln w="12700">
            <a:solidFill>
              <a:srgbClr val="3E9E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107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4107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410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8679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CE8A2E"/>
          </a:solidFill>
          <a:ln w="12700">
            <a:solidFill>
              <a:srgbClr val="CE8A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8679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8679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/produtos/1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867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tudo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3251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3FA89B"/>
          </a:solidFill>
          <a:ln w="12700">
            <a:solidFill>
              <a:srgbClr val="3FA89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251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3251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/produtos/1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3251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um campo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7823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C25450"/>
          </a:solidFill>
          <a:ln w="12700">
            <a:solidFill>
              <a:srgbClr val="C254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7823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4782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/produtos/1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47823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772400" y="1536192"/>
            <a:ext cx="3776472" cy="1828800"/>
          </a:xfrm>
          <a:prstGeom prst="roundRect">
            <a:avLst>
              <a:gd name="adj" fmla="val 2500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10144" y="173736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Reiniciou, zerou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010144" y="2121408"/>
            <a:ext cx="3300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vivem só na memória. Feche a aplicação e abra de novo: os 4 produtos originais voltam, e o que você criou some. É proposital — teste à vontade.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0" y="3593592"/>
            <a:ext cx="3776472" cy="1645920"/>
          </a:xfrm>
          <a:prstGeom prst="roundRect">
            <a:avLst>
              <a:gd name="adj" fmla="val 2778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10144" y="379476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A5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login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010144" y="4178808"/>
            <a:ext cx="33009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API é aberta de propósito, para não atrapalhar o aprendizado. Numa API real haveria autenticação — e aí apareceriam os códigos 401 e 403.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Ligar a aplicação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terminal na pasta do projeto e digite um comando só: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6766560" cy="688360"/>
          </a:xfrm>
          <a:prstGeom prst="roundRect">
            <a:avLst>
              <a:gd name="adj" fmla="val 7970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212848"/>
            <a:ext cx="6437376" cy="39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run --project ProdutosApi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7238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4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aparecer isto, deu certo: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502152"/>
            <a:ext cx="6766560" cy="1258946"/>
          </a:xfrm>
          <a:prstGeom prst="roundRect">
            <a:avLst>
              <a:gd name="adj" fmla="val 4358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648456"/>
            <a:ext cx="6437376" cy="966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info: Microsoft.Hosting.Lifetime[14]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Now listening on: http://localhost:5135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info: Microsoft.Hosting.Lifetime[0]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 started. Press Ctrl+C to shut down.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0" y="1536192"/>
            <a:ext cx="3776472" cy="3794760"/>
          </a:xfrm>
          <a:prstGeom prst="roundRect">
            <a:avLst>
              <a:gd name="adj" fmla="val 1211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10144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este endereço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010144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localhost:5135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010144" y="258775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“localhost” quer dizer “este computador”. A API não está na internet: ela roda aqui, na sua máquina.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5135 é a porta — como o número de uma sala dentro do prédio.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10144" y="43708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 terminal aberto. Fechou o terminal, parou a API.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Abrir o Swagger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navegador, acesse localhost:5135/swagger. Esta tela é gerada automaticamente a partir do código: é a lista de tudo que a API sabe fazer.</a:t>
            </a:r>
            <a:endParaRPr lang="en-US" sz="1500" dirty="0"/>
          </a:p>
        </p:txBody>
      </p:sp>
      <p:pic>
        <p:nvPicPr>
          <p:cNvPr id="5" name="Image 0" descr="C:\Users\denis\AppData\Local\Temp\claude\C--Users-denis-Desktop-Est-giario\c9137d6d-1cbf-4868-9ad1-095518607b28\scratchpad\slides_img\01-swagger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7179061" cy="41330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03189" y="2103120"/>
            <a:ext cx="3348426" cy="2240280"/>
          </a:xfrm>
          <a:prstGeom prst="roundRect">
            <a:avLst>
              <a:gd name="adj" fmla="val 2041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40933" y="2304288"/>
            <a:ext cx="2872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vê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40933" y="2688336"/>
            <a:ext cx="287293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e a versão da API no topo</a:t>
            </a:r>
            <a:endParaRPr lang="en-US" sz="12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uma operação disponível</a:t>
            </a:r>
            <a:endParaRPr lang="en-US" sz="12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etiqueta colorida é o verbo HTTP</a:t>
            </a:r>
            <a:endParaRPr lang="en-US" sz="12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ao lado explica o que faz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HTTP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cores não são enfeite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 no Swagger é um verbo diferente. O verbo diz a INTENÇÃO do pedido — por isso o mesmo endereço pode fazer coisas opostas.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176272"/>
            <a:ext cx="10911535" cy="658368"/>
          </a:xfrm>
          <a:prstGeom prst="roundRect">
            <a:avLst>
              <a:gd name="adj" fmla="val 6944"/>
            </a:avLst>
          </a:prstGeom>
          <a:solidFill>
            <a:srgbClr val="F4FAFA"/>
          </a:solidFill>
          <a:ln w="12700">
            <a:solidFill>
              <a:srgbClr val="F4FA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40864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3B8FD4"/>
          </a:solidFill>
          <a:ln w="12700">
            <a:solidFill>
              <a:srgbClr val="3B8F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408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3225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322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lê. Não muda nada. Pode repetir à vontade.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3225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/produtos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3E9E63"/>
          </a:solidFill>
          <a:ln w="12700">
            <a:solidFill>
              <a:srgbClr val="3E9E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108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090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item novo. Repetir cria outro.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/produtos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0911535" cy="658368"/>
          </a:xfrm>
          <a:prstGeom prst="roundRect">
            <a:avLst>
              <a:gd name="adj" fmla="val 6944"/>
            </a:avLst>
          </a:prstGeom>
          <a:solidFill>
            <a:srgbClr val="F4FAFA"/>
          </a:solidFill>
          <a:ln w="12700">
            <a:solidFill>
              <a:srgbClr val="F4FA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77056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CE8A2E"/>
          </a:solidFill>
          <a:ln w="12700">
            <a:solidFill>
              <a:srgbClr val="CE8A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8770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858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o item inteiro pelo que você mandou.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/produtos/1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645152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3FA89B"/>
          </a:solidFill>
          <a:ln w="12700">
            <a:solidFill>
              <a:srgbClr val="3FA89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6451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626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só os campos que você enviou.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46268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/produtos/1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248656"/>
            <a:ext cx="10911535" cy="658368"/>
          </a:xfrm>
          <a:prstGeom prst="roundRect">
            <a:avLst>
              <a:gd name="adj" fmla="val 6944"/>
            </a:avLst>
          </a:prstGeom>
          <a:solidFill>
            <a:srgbClr val="F4FAFA"/>
          </a:solidFill>
          <a:ln w="12700">
            <a:solidFill>
              <a:srgbClr val="F4FA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541324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C25450"/>
          </a:solidFill>
          <a:ln w="12700">
            <a:solidFill>
              <a:srgbClr val="C254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413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01168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o item.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/produtos/1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— GET /PRODUTOS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primeira consulta</a:t>
            </a:r>
            <a:endParaRPr lang="en-US" sz="3300" dirty="0"/>
          </a:p>
        </p:txBody>
      </p:sp>
      <p:pic>
        <p:nvPicPr>
          <p:cNvPr id="4" name="Image 0" descr="C:\Users\denis\AppData\Local\Temp\claude\C--Users-denis-Desktop-Est-giario\c9137d6d-1cbf-4868-9ad1-095518607b28\scratchpad\slides_img\02-get-produtos-expand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7498080" cy="34513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22208" y="160934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22208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015984" y="1591056"/>
            <a:ext cx="2535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na linha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015984" y="1865376"/>
            <a:ext cx="25356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GET /produtos para abrir os detalhes.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22208" y="261518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22208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015984" y="2596896"/>
            <a:ext cx="2535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out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9015984" y="2871216"/>
            <a:ext cx="25356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botão libera os campos para você preencher.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522208" y="3621024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22208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015984" y="3602736"/>
            <a:ext cx="2535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9015984" y="3877056"/>
            <a:ext cx="25356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azul envia o pedido de verdade.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22208" y="4672584"/>
            <a:ext cx="3029407" cy="1371600"/>
          </a:xfrm>
          <a:prstGeom prst="roundRect">
            <a:avLst>
              <a:gd name="adj" fmla="val 3333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59952" y="4873752"/>
            <a:ext cx="2553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são opcionais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759952" y="5257800"/>
            <a:ext cx="25539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categoria e ativo servem para filtrar. Deixe tudo em branco para trazer todos.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— 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API respondeu</a:t>
            </a:r>
            <a:endParaRPr lang="en-US" sz="3300" dirty="0"/>
          </a:p>
        </p:txBody>
      </p:sp>
      <p:pic>
        <p:nvPicPr>
          <p:cNvPr id="4" name="Image 0" descr="C:\Users\denis\AppData\Local\Temp\claude\C--Users-denis-Desktop-Est-giario\c9137d6d-1cbf-4868-9ad1-095518607b28\scratchpad\slides_img\03-get-produtos-respo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7315200" cy="42358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39328" y="1536192"/>
            <a:ext cx="3212287" cy="1828800"/>
          </a:xfrm>
          <a:prstGeom prst="roundRect">
            <a:avLst>
              <a:gd name="adj" fmla="val 2500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77072" y="17190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577072" y="2267712"/>
            <a:ext cx="2736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77072" y="2596896"/>
            <a:ext cx="2736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número é o status code. Ele conta o desfecho antes mesmo de você ler os dados.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339328" y="3593592"/>
            <a:ext cx="321228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também no Response body: é o JSON com os dados. E no Curl, que mostra o mesmo pedido em formato de comando de terminal.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OS DADOS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o idioma da resposta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é só um jeito organizado de escrever dados. Chave à esquerda, valor à direita.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93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de GET /produtos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21992"/>
            <a:ext cx="6858000" cy="2790017"/>
          </a:xfrm>
          <a:prstGeom prst="roundRect">
            <a:avLst>
              <a:gd name="adj" fmla="val 1966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68296"/>
            <a:ext cx="6528816" cy="24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"itens": [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1, "nome": "Notebook Gamer", "preco": 7500.00,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"categoria": "informatica", "ativo": true },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2, "nome": "Mouse sem fio", "preco": 149.90,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"categoria": "perifericos", "ativo": true }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"pagina": 1,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"totalDeItens": 4,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"totalDePaginas": 1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0312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alfabeto do JSON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2441448"/>
            <a:ext cx="3687775" cy="475488"/>
          </a:xfrm>
          <a:prstGeom prst="roundRect">
            <a:avLst>
              <a:gd name="adj" fmla="val 9615"/>
            </a:avLst>
          </a:prstGeom>
          <a:solidFill>
            <a:srgbClr val="F4FAFA"/>
          </a:solidFill>
          <a:ln w="12700">
            <a:solidFill>
              <a:srgbClr val="F4FA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24963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372600" y="2496312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— um item só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026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372600" y="3026664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— vários itens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3502152"/>
            <a:ext cx="3687775" cy="475488"/>
          </a:xfrm>
          <a:prstGeom prst="roundRect">
            <a:avLst>
              <a:gd name="adj" fmla="val 9615"/>
            </a:avLst>
          </a:prstGeom>
          <a:solidFill>
            <a:srgbClr val="F4FAFA"/>
          </a:solidFill>
          <a:ln w="12700">
            <a:solidFill>
              <a:srgbClr val="F4FA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35570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"texto"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72600" y="3557016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= texto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087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7500.00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4087368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aspas = número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4562856"/>
            <a:ext cx="3687775" cy="475488"/>
          </a:xfrm>
          <a:prstGeom prst="roundRect">
            <a:avLst>
              <a:gd name="adj" fmla="val 9615"/>
            </a:avLst>
          </a:prstGeom>
          <a:solidFill>
            <a:srgbClr val="F4FAFA"/>
          </a:solidFill>
          <a:ln w="12700">
            <a:solidFill>
              <a:srgbClr val="F4FA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/ false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4617720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ou não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51480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5148072"/>
            <a:ext cx="1996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vazio, sem valor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12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itens é uma LISTA de objetos. Os campos ao redor dela — pagina, totalDeItens — falam sobre a consulta, não sobre um produto.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— POST /PRODUTOS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um produto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vamos MUDAR alguma coisa. No POST aparece uma caixa de texto: é o body, onde você escreve o produto em JSON.</a:t>
            </a:r>
            <a:endParaRPr lang="en-US" sz="1500" dirty="0"/>
          </a:p>
        </p:txBody>
      </p:sp>
      <p:pic>
        <p:nvPicPr>
          <p:cNvPr id="5" name="Image 0" descr="C:\Users\denis\AppData\Local\Temp\claude\C--Users-denis-Desktop-Est-giario\c9137d6d-1cbf-4868-9ad1-095518607b28\scratchpad\slides_img\04-post-produtos-expand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66544"/>
            <a:ext cx="7223760" cy="22574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47888" y="2084832"/>
            <a:ext cx="33037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isto na caixa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47888" y="2377440"/>
            <a:ext cx="3303727" cy="1477670"/>
          </a:xfrm>
          <a:prstGeom prst="roundRect">
            <a:avLst>
              <a:gd name="adj" fmla="val 3713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2523744"/>
            <a:ext cx="2974543" cy="118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 "Webcam Full HD",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"preco": 289.90,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"categoria": "perifericos"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47888" y="3986784"/>
            <a:ext cx="3303727" cy="1920240"/>
          </a:xfrm>
          <a:prstGeom prst="roundRect">
            <a:avLst>
              <a:gd name="adj" fmla="val 2381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85632" y="4187952"/>
            <a:ext cx="2828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id?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485632" y="4572000"/>
            <a:ext cx="282823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envia o id, nem a data de criação. Quem decide isso é a aplicação.</a:t>
            </a:r>
            <a:endParaRPr lang="en-US" sz="1250" dirty="0"/>
          </a:p>
          <a:p>
            <a:pPr indent="0" marL="0">
              <a:lnSpc>
                <a:spcPts val="1563"/>
              </a:lnSpc>
              <a:buNone/>
            </a:pPr>
            <a:endParaRPr lang="en-US" sz="1250" dirty="0"/>
          </a:p>
          <a:p>
            <a:pPr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cliente pudesse escolher o id, ele poderia sobrescrever o produto de outra pessoa.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— 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Criou! E a API conta onde guardou</a:t>
            </a:r>
            <a:endParaRPr lang="en-US" sz="3300" dirty="0"/>
          </a:p>
        </p:txBody>
      </p:sp>
      <p:pic>
        <p:nvPicPr>
          <p:cNvPr id="4" name="Image 0" descr="C:\Users\denis\AppData\Local\Temp\claude\C--Users-denis-Desktop-Est-giario\c9137d6d-1cbf-4868-9ad1-095518607b28\scratchpad\slides_img\05b-post-respo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7772400" cy="38061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96528" y="1627632"/>
            <a:ext cx="2755087" cy="1554480"/>
          </a:xfrm>
          <a:prstGeom prst="roundRect">
            <a:avLst>
              <a:gd name="adj" fmla="val 2941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015984" y="177393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015984" y="2322576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15984" y="2633472"/>
            <a:ext cx="2316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200. É 201 porque algo novo passou a existir.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796528" y="3319272"/>
            <a:ext cx="2755087" cy="2148840"/>
          </a:xfrm>
          <a:prstGeom prst="roundRect">
            <a:avLst>
              <a:gd name="adj" fmla="val 2128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15984" y="3493008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header location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015984" y="3822192"/>
            <a:ext cx="2316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/produtos/5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015984" y="4206240"/>
            <a:ext cx="231617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não só criou: ela avisou o endereço do produto novo.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 5 apareceu porque já existiam 4.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que você vai encontrar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casa do número já diz muita coisa: 2xx deu certo, 4xx o erro foi de quem pediu, 5xx o erro foi da API.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157984"/>
            <a:ext cx="3566160" cy="1298448"/>
          </a:xfrm>
          <a:prstGeom prst="roundRect">
            <a:avLst>
              <a:gd name="adj" fmla="val 3521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042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395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07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funcionou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157984"/>
            <a:ext cx="3566160" cy="1298448"/>
          </a:xfrm>
          <a:prstGeom prst="roundRect">
            <a:avLst>
              <a:gd name="adj" fmla="val 3521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23042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395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907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Criou o recurso novo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2157984"/>
            <a:ext cx="3566160" cy="1298448"/>
          </a:xfrm>
          <a:prstGeom prst="roundRect">
            <a:avLst>
              <a:gd name="adj" fmla="val 3521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41080" y="23042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829800" y="2395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907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certo, sem resposta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94176"/>
            <a:ext cx="3566160" cy="1298448"/>
          </a:xfrm>
          <a:prstGeom prst="roundRect">
            <a:avLst>
              <a:gd name="adj" fmla="val 3521"/>
            </a:avLst>
          </a:prstGeom>
          <a:solidFill>
            <a:srgbClr val="FDF4E7"/>
          </a:solidFill>
          <a:ln w="12700">
            <a:solidFill>
              <a:srgbClr val="FDF4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E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443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enviados estão errados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3694176"/>
            <a:ext cx="3566160" cy="1298448"/>
          </a:xfrm>
          <a:prstGeom prst="roundRect">
            <a:avLst>
              <a:gd name="adj" fmla="val 3521"/>
            </a:avLst>
          </a:prstGeom>
          <a:solidFill>
            <a:srgbClr val="FDF4E7"/>
          </a:solidFill>
          <a:ln w="12700">
            <a:solidFill>
              <a:srgbClr val="FDF4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E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443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recurso não existe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3694176"/>
            <a:ext cx="3566160" cy="1298448"/>
          </a:xfrm>
          <a:prstGeom prst="roundRect">
            <a:avLst>
              <a:gd name="adj" fmla="val 3521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410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2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4443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quebrou por dentro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239512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F4FAFA"/>
          </a:solidFill>
          <a:ln w="12700">
            <a:solidFill>
              <a:srgbClr val="F4FA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7824" y="5440680"/>
            <a:ext cx="10436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que confunde todo mundo: buscar e não achar nada NÃO é 404. GET /produtos?categoria=inexistente devolve 200 com a lista vazia — a consulta funcionou, só não tinha nada lá.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DO CLIENTE — 404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pede o que não existe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o produto 999. Ele nunca existiu — e a API responde de forma clara, sem quebrar.</a:t>
            </a:r>
            <a:endParaRPr lang="en-US" sz="1550" dirty="0"/>
          </a:p>
        </p:txBody>
      </p:sp>
      <p:pic>
        <p:nvPicPr>
          <p:cNvPr id="5" name="Image 0" descr="C:\Users\denis\AppData\Local\Temp\claude\C--Users-denis-Desktop-Est-giario\c9137d6d-1cbf-4868-9ad1-095518607b28\scratchpad\slides_img\06b-404-respo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66544"/>
            <a:ext cx="7040880" cy="26015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65008" y="2066544"/>
            <a:ext cx="3486607" cy="1463040"/>
          </a:xfrm>
          <a:prstGeom prst="roundRect">
            <a:avLst>
              <a:gd name="adj" fmla="val 3125"/>
            </a:avLst>
          </a:prstGeom>
          <a:solidFill>
            <a:srgbClr val="FDF4E7"/>
          </a:solidFill>
          <a:ln w="12700">
            <a:solidFill>
              <a:srgbClr val="FDF4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02752" y="2212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E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302752" y="2761488"/>
            <a:ext cx="3011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302752" y="3072384"/>
            <a:ext cx="30111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estava bem escrito. O que não existe é o produto.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3694176"/>
            <a:ext cx="34866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explica o erro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65008" y="3986784"/>
            <a:ext cx="3486607" cy="1335024"/>
          </a:xfrm>
          <a:prstGeom prst="roundRect">
            <a:avLst>
              <a:gd name="adj" fmla="val 4110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4133088"/>
            <a:ext cx="3157423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"Recurso não encontrado.",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404,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"Produto 999 não encontrado."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DO CLIENTE — 400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dados enviados estão errados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 criar um produto com preço negativo e nome de uma letra. A API recusa antes de gravar qualquer coisa.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envia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440680" cy="1477670"/>
          </a:xfrm>
          <a:prstGeom prst="roundRect">
            <a:avLst>
              <a:gd name="adj" fmla="val 3713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523744"/>
            <a:ext cx="5111496" cy="118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F2A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 "X",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F2A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"preco": -5,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F2A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"categoria": ""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20848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responde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64808" y="2377440"/>
            <a:ext cx="5440680" cy="1477670"/>
          </a:xfrm>
          <a:prstGeom prst="roundRect">
            <a:avLst>
              <a:gd name="adj" fmla="val 3713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523744"/>
            <a:ext cx="5111496" cy="118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F2C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"Nome":      ["O nome deve ter entre 2 e 80..."]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"Preco":     ["O preço deve ser maior que zero."]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"Categoria": ["A categoria é obrigatória."]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8371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um erro por campo. A API não diz só “deu ruim” — ela diz exatamente o que corrigir.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68342"/>
            <a:ext cx="10881360" cy="1696395"/>
          </a:xfrm>
          <a:prstGeom prst="roundRect">
            <a:avLst>
              <a:gd name="adj" fmla="val 3234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714646"/>
            <a:ext cx="10552176" cy="1403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9DB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Dtos/CriarProdutoRequest.cs — a regra mora aqui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[Required(ErrorMessage = "O nome é obrigatório.")]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Nome { get; set; }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[Range(0.01, 1_000_000, ErrorMessage = "O preço deve ser maior que zero.")]</a:t>
            </a:r>
            <a:endParaRPr lang="en-US" sz="1150" dirty="0"/>
          </a:p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decimal Preco { get; set; }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DÚVIDA MAIS COMUM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troca tudo. PATCH ajusta um pedaço.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alteram um produto que já existe. A diferença está no que acontece com os campos que você NÃO enviou.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CE8A2E"/>
          </a:solidFill>
          <a:ln w="12700">
            <a:solidFill>
              <a:srgbClr val="CE8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848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848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completa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23744"/>
            <a:ext cx="5440680" cy="1753453"/>
          </a:xfrm>
          <a:prstGeom prst="roundRect">
            <a:avLst>
              <a:gd name="adj" fmla="val 3129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670048"/>
            <a:ext cx="5111496" cy="1460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"nome": "Mouse Pro",</a:t>
            </a: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"preco": 199.90,</a:t>
            </a: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"categoria": "perifericos",</a:t>
            </a: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"ativo": true</a:t>
            </a: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64808" y="2084832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3FA89B"/>
          </a:solidFill>
          <a:ln w="12700">
            <a:solidFill>
              <a:srgbClr val="3FA8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20848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653528" y="20848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parcial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64808" y="2523744"/>
            <a:ext cx="5440680" cy="1753453"/>
          </a:xfrm>
          <a:prstGeom prst="roundRect">
            <a:avLst>
              <a:gd name="adj" fmla="val 3129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670048"/>
            <a:ext cx="5111496" cy="1460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"preco": 149.90</a:t>
            </a: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endParaRPr lang="en-US" sz="1200" dirty="0"/>
          </a:p>
          <a:p>
            <a:pPr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460077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mandar TODOS os campos. O que faltar é apagado.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4460077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preço muda. Nome, categoria e ativo continuam como estavam.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145877"/>
            <a:ext cx="10881360" cy="859536"/>
          </a:xfrm>
          <a:prstGeom prst="roundRect">
            <a:avLst>
              <a:gd name="adj" fmla="val 6383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5292181"/>
            <a:ext cx="10552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9DB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código, a diferença é o ?? — “se veio nulo, mantém o que já estava”</a:t>
            </a:r>
            <a:endParaRPr lang="en-US" sz="125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produto.Preco = requisicao.Preco ?? produto.Preco;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TRUQUE DOS DTOS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não mostra tudo que sabe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dentro, o produto tem um campo a mais: quanto a empresa pagou por ele. Esse dado nunca sai na resposta.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Models/Produto.cs — por dentro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440680" cy="2362078"/>
          </a:xfrm>
          <a:prstGeom prst="roundRect">
            <a:avLst>
              <a:gd name="adj" fmla="val 2323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523744"/>
            <a:ext cx="5111496" cy="2069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2A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CustoInterno   ← segredo!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DataCriacao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DataAlteracao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20848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Dtos/ProdutoResponse.cs — o que sai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64808" y="2377440"/>
            <a:ext cx="5440680" cy="2362078"/>
          </a:xfrm>
          <a:prstGeom prst="roundRect">
            <a:avLst>
              <a:gd name="adj" fmla="val 2323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523744"/>
            <a:ext cx="5111496" cy="2069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8C4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(não existe aqui)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DataCriacao</a:t>
            </a:r>
            <a:endParaRPr lang="en-US" sz="1300" dirty="0"/>
          </a:p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DataAlteracao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013838"/>
            <a:ext cx="10881360" cy="1280160"/>
          </a:xfrm>
          <a:prstGeom prst="roundRect">
            <a:avLst>
              <a:gd name="adj" fmla="val 3571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5215006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559905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compra é informação comercial da empresa. Se a API devolvesse o objeto interno direto, esse valor iria em toda resposta — para qualquer pessoa que chamasse a API. Ter um objeto separado só para a saída é o que dá controle sobre o que sai.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DO SERVIDOR — 500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culpa é da API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endpoint /exemplos/erro quebra de propósito. Olhe os dois lados ao mesmo tempo.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recebe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440680" cy="2057766"/>
          </a:xfrm>
          <a:prstGeom prst="roundRect">
            <a:avLst>
              <a:gd name="adj" fmla="val 2666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523744"/>
            <a:ext cx="5111496" cy="176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2A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Internal Server Error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7FD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"Erro interno no servidor.",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"Não foi possível concluir a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requisição. Informe o traceId.",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C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"traceId": "0HNO5B7411A73:00000001"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208483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 no TERMINAL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64808" y="2377440"/>
            <a:ext cx="5440680" cy="2057766"/>
          </a:xfrm>
          <a:prstGeom prst="roundRect">
            <a:avLst>
              <a:gd name="adj" fmla="val 2666"/>
            </a:avLst>
          </a:prstGeom>
          <a:solidFill>
            <a:srgbClr val="10262C"/>
          </a:solidFill>
          <a:ln w="12700">
            <a:solidFill>
              <a:srgbClr val="1026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523744"/>
            <a:ext cx="5111496" cy="176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 inesperado em GET /exemplos/erro.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C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TraceId: 0HNO5B7411A73:00000001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A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System.DivideByZeroException: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2A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Attempted to divide by zero.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at ExemplosController.ProvocarErro()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D6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 ExemplosController.cs:linha 31</a:t>
            </a:r>
            <a:endParaRPr lang="en-US" sz="1100" dirty="0"/>
          </a:p>
          <a:p>
            <a:pPr indent="0" marL="0">
              <a:lnSpc>
                <a:spcPts val="1430"/>
              </a:lnSpc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09526"/>
            <a:ext cx="10881360" cy="1600200"/>
          </a:xfrm>
          <a:prstGeom prst="roundRect">
            <a:avLst>
              <a:gd name="adj" fmla="val 2857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4910694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traceId nos dois lados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5294742"/>
            <a:ext cx="104058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recebe uma mensagem genérica e um código de rastreio. Quem cuida do sistema recebe a linha exata do erro. É de propósito: mostrar a stack trace para quem chama a API revelaria a estrutura interna da aplicação — e não ajudaria em nada quem está do outro lado. Com o traceId em mãos, o suporte encontra o erro no log em segundos.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ABRINDO O 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 cada coisa no projeto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poucos arquivos, e o principal é um só. Tudo que você viu hoje acontece dentro da controller.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579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Controllers/ProdutosController.cs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14016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principal. Os 6 endpoints, os dados e as regras.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79776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834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Controllers/ExemplosController.cs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09067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endpoints de demonstração: headers e erro 500.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56432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5112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Models/Produto.cs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76732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produto é por dentro, com o CustoInterno.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4187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Dtos/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443984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e o que sai pela API. O contrato público.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09744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12064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o Swagger e trata os erros inesperados.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55412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ProdutosApi.http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5797296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prontas, alternativa ao Swagger.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com você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55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aplicação rodando e o Swagger aberto, faça cada item e explique em voz alta o que aconteceu.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530352"/>
          </a:xfrm>
          <a:prstGeom prst="roundRect">
            <a:avLst>
              <a:gd name="adj" fmla="val 8621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9456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 filtre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103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 GET /produtos e depois filtre por categoria=perifericos. Quantos vieram?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" y="2779776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26883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seu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68833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produto com o seu nome. Que status veio? E qual foi o id?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73552"/>
            <a:ext cx="10881360" cy="530352"/>
          </a:xfrm>
          <a:prstGeom prst="roundRect">
            <a:avLst>
              <a:gd name="adj" fmla="val 8621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64992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2735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o nome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2735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 criar outro produto com o MESMO nome. Por que a API recusou?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" y="3950208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3858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Quebre de propósito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3858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um preço negativo. Qual foi a mensagem, e de qual campo?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443984"/>
            <a:ext cx="10881360" cy="530352"/>
          </a:xfrm>
          <a:prstGeom prst="roundRect">
            <a:avLst>
              <a:gd name="adj" fmla="val 8621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53542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16736" y="44439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x PUT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444398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só o preço com PATCH. Depois tente o mesmo corpo com PUT. Compare.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" y="512064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16736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Apague duas vezes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5029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no mesmo id duas vezes. Explique os dois status diferentes.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5614416"/>
            <a:ext cx="10881360" cy="530352"/>
          </a:xfrm>
          <a:prstGeom prst="roundRect">
            <a:avLst>
              <a:gd name="adj" fmla="val 8621"/>
            </a:avLst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5705856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16736" y="5614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3749040" y="561441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a aplicação, rode de novo e liste. Cadê o produto que você criou?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já sabe fazer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94944" y="1682496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5819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a aplicação e abrir o Swagger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94944" y="2139696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391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tela e identificar cada operação disponível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4944" y="2596896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4963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verbo certo: GET, POST, PUT, PATCH ou DELETE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4944" y="3054096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29535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um JSON e entender o que a API devolveu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94944" y="3511296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410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o status code antes mesmo de ler os dados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4944" y="3968496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8679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erro seu (400, 404) de erro da API (500)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94944" y="4425696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3251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que a API não devolve tudo que guarda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102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vale mais que todas: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440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“Por que fazemos dessa forma?”</a:t>
            </a:r>
            <a:endParaRPr lang="en-US" sz="27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Produtos API — aula prática</dc:title>
  <dc:subject>PptxGenJS Presentation</dc:subject>
  <dc:creator>Material de Estudo</dc:creator>
  <cp:lastModifiedBy>Material de Estudo</cp:lastModifiedBy>
  <cp:revision>1</cp:revision>
  <dcterms:created xsi:type="dcterms:W3CDTF">2026-08-28T23:54:19Z</dcterms:created>
  <dcterms:modified xsi:type="dcterms:W3CDTF">2026-08-28T23:54:19Z</dcterms:modified>
</cp:coreProperties>
</file>